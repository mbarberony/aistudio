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56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036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43662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 and Strategic Goals</a:t>
            </a:r>
            <a:b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the capabilities of AI in a responsible and secure manner to provide value to the business is an ongoing and gradual journey</a:t>
            </a: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1000" y="1028700"/>
            <a:ext cx="114300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18091" y="1028700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Risk Management paramount: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18091" y="13578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existing sound principles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18091" y="15956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sure that enterprise' data never leaked to third parties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18091" y="19431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activities auditable through on-going monitoring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18091" y="229057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artifacts never disseminated outside the firm "as is" or without a "human-in-the-loop"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18091" y="2820924"/>
            <a:ext cx="3474720" cy="9144"/>
          </a:xfrm>
          <a:prstGeom prst="rect">
            <a:avLst/>
          </a:prstGeom>
          <a:solidFill>
            <a:srgbClr val="2A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18091" y="28392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Experimentation at Core of Strategy: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18091" y="31683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want to "taste the soup" – we welcome that!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18091" y="34427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streamlining how teams can get access to the AI building block in an accelerated way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18091" y="37901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of a larger goal of making IT services managed as well-defined product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18091" y="4247388"/>
            <a:ext cx="3474720" cy="9144"/>
          </a:xfrm>
          <a:prstGeom prst="rect">
            <a:avLst/>
          </a:prstGeom>
          <a:solidFill>
            <a:srgbClr val="2A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18091" y="42656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and Propagate Best Practices/Experience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18091" y="45948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"Connect the dots" fast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18091" y="48326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where possible as soon as possible (but not sooner!!)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18091" y="51800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Fostering communication is paramount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18091" y="54178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ad-hoc, self-organized groups exists – which is good - but we are working on making these connections more efficiently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18091" y="583844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 this emerging know-how + combined with top-down research is how we publish standards and general best-practices. And creating building blocks that can be used across the firm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75691" y="10287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Edging bets  across vendor and technology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75691" y="13578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activities and/or filling gaps can be done through staff augmentation but 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75691" y="17053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we are committed to grow internal capabilities in a sustainable way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75691" y="20528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harness and leverage the bottom-up contributions by these change agents, building internal capabilities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5691" y="24003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outsourcing what should be built strategically as differentiating strength.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75691" y="2912364"/>
            <a:ext cx="3474720" cy="9144"/>
          </a:xfrm>
          <a:prstGeom prst="rect">
            <a:avLst/>
          </a:prstGeom>
          <a:solidFill>
            <a:srgbClr val="2A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75691" y="29306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 thus… Engaging vendor strategically, i.e.,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75691" y="32598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no market participants potential can be ignored yet (AWS, Azure/OpenAI, others…), so we are resisting the “urge to decide” NOT through a succession of narrow transactions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75691" y="37536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brought in for thought partnership and to provide both strategic insight and scale as needed.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75691" y="4265676"/>
            <a:ext cx="3474720" cy="9144"/>
          </a:xfrm>
          <a:prstGeom prst="rect">
            <a:avLst/>
          </a:prstGeom>
          <a:solidFill>
            <a:srgbClr val="2A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75691" y="42839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Data available and AI-Ready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75691" y="46131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Ingesting/marshalling data into AI models is often on the critical path of any AI projects.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75691" y="49606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being addressed as a priority with work being done in Jupiter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75691" y="53080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clear, Jupiter is NOT the overall solution to AI data in general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75691" y="55458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9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Citizen Development (e.g. PowerApps platform for business users)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49278" y="-813816"/>
            <a:ext cx="4023360" cy="1097280"/>
          </a:xfrm>
          <a:prstGeom prst="rect">
            <a:avLst/>
          </a:prstGeom>
          <a:solidFill>
            <a:srgbClr val="F5F0DC"/>
          </a:solidFill>
          <a:ln w="12700">
            <a:solidFill>
              <a:srgbClr val="D4C8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863840" y="8229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7DD9B1-1918-2601-4F5B-B68B9713D3F9}"/>
              </a:ext>
            </a:extLst>
          </p:cNvPr>
          <p:cNvSpPr/>
          <p:nvPr/>
        </p:nvSpPr>
        <p:spPr>
          <a:xfrm>
            <a:off x="0" y="6460435"/>
            <a:ext cx="546652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71A394-9DE6-5AC4-F929-CA18CB32D3D2}"/>
              </a:ext>
            </a:extLst>
          </p:cNvPr>
          <p:cNvSpPr/>
          <p:nvPr/>
        </p:nvSpPr>
        <p:spPr>
          <a:xfrm>
            <a:off x="11075504" y="6460435"/>
            <a:ext cx="1086016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3AC38B-455A-0C8A-DDD4-DFF4D63A359A}"/>
              </a:ext>
            </a:extLst>
          </p:cNvPr>
          <p:cNvSpPr/>
          <p:nvPr/>
        </p:nvSpPr>
        <p:spPr>
          <a:xfrm>
            <a:off x="10780642" y="218661"/>
            <a:ext cx="1265583" cy="318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9829A4-E7A4-DB2F-B180-EB6A86C220BD}"/>
              </a:ext>
            </a:extLst>
          </p:cNvPr>
          <p:cNvSpPr/>
          <p:nvPr/>
        </p:nvSpPr>
        <p:spPr>
          <a:xfrm>
            <a:off x="0" y="6460435"/>
            <a:ext cx="546652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72AEE6-FEB4-B623-327C-1BCDEE322074}"/>
              </a:ext>
            </a:extLst>
          </p:cNvPr>
          <p:cNvSpPr/>
          <p:nvPr/>
        </p:nvSpPr>
        <p:spPr>
          <a:xfrm>
            <a:off x="11075504" y="6460435"/>
            <a:ext cx="1086016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9E3B1-DF8E-D43B-4290-AD0196AF2A53}"/>
              </a:ext>
            </a:extLst>
          </p:cNvPr>
          <p:cNvSpPr/>
          <p:nvPr/>
        </p:nvSpPr>
        <p:spPr>
          <a:xfrm>
            <a:off x="10780642" y="218661"/>
            <a:ext cx="1265583" cy="318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4D1D99-68C7-58B1-A099-62E6E65ED2F4}"/>
              </a:ext>
            </a:extLst>
          </p:cNvPr>
          <p:cNvSpPr/>
          <p:nvPr/>
        </p:nvSpPr>
        <p:spPr>
          <a:xfrm>
            <a:off x="0" y="6460435"/>
            <a:ext cx="546652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283944-82D2-8C7A-EF6D-6D93760E0B62}"/>
              </a:ext>
            </a:extLst>
          </p:cNvPr>
          <p:cNvSpPr/>
          <p:nvPr/>
        </p:nvSpPr>
        <p:spPr>
          <a:xfrm>
            <a:off x="11075504" y="6460435"/>
            <a:ext cx="1086016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469D9B-16B1-7CAE-2EEB-7F25A562221B}"/>
              </a:ext>
            </a:extLst>
          </p:cNvPr>
          <p:cNvSpPr/>
          <p:nvPr/>
        </p:nvSpPr>
        <p:spPr>
          <a:xfrm>
            <a:off x="10780642" y="218661"/>
            <a:ext cx="1265583" cy="318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AC7577-54F0-EC43-8985-EFCA3FB615C4}"/>
              </a:ext>
            </a:extLst>
          </p:cNvPr>
          <p:cNvSpPr/>
          <p:nvPr/>
        </p:nvSpPr>
        <p:spPr>
          <a:xfrm>
            <a:off x="0" y="6460435"/>
            <a:ext cx="546652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88DB5-2416-D1AC-D5F4-97A50F90005A}"/>
              </a:ext>
            </a:extLst>
          </p:cNvPr>
          <p:cNvSpPr/>
          <p:nvPr/>
        </p:nvSpPr>
        <p:spPr>
          <a:xfrm>
            <a:off x="11075504" y="6460435"/>
            <a:ext cx="1086016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264AD7-6053-5778-482E-A5B08EC15AEA}"/>
              </a:ext>
            </a:extLst>
          </p:cNvPr>
          <p:cNvSpPr/>
          <p:nvPr/>
        </p:nvSpPr>
        <p:spPr>
          <a:xfrm>
            <a:off x="10780642" y="218661"/>
            <a:ext cx="1265583" cy="318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9FAE4-202F-0768-CB9F-F24A1D0A6206}"/>
              </a:ext>
            </a:extLst>
          </p:cNvPr>
          <p:cNvSpPr/>
          <p:nvPr/>
        </p:nvSpPr>
        <p:spPr>
          <a:xfrm>
            <a:off x="0" y="6450496"/>
            <a:ext cx="546652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1113AC-23F6-1B17-11E1-481E4B224FF8}"/>
              </a:ext>
            </a:extLst>
          </p:cNvPr>
          <p:cNvSpPr/>
          <p:nvPr/>
        </p:nvSpPr>
        <p:spPr>
          <a:xfrm>
            <a:off x="10926748" y="5529470"/>
            <a:ext cx="1086016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73FF7-20EA-850B-CACD-3FB8A00F0A73}"/>
              </a:ext>
            </a:extLst>
          </p:cNvPr>
          <p:cNvSpPr/>
          <p:nvPr/>
        </p:nvSpPr>
        <p:spPr>
          <a:xfrm>
            <a:off x="10953584" y="3313"/>
            <a:ext cx="1265583" cy="318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White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EE2CDED-4F0E-257C-B044-320502E3987F}"/>
              </a:ext>
            </a:extLst>
          </p:cNvPr>
          <p:cNvSpPr/>
          <p:nvPr/>
        </p:nvSpPr>
        <p:spPr>
          <a:xfrm>
            <a:off x="0" y="6460435"/>
            <a:ext cx="546652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A2BEB-FFDD-7FFC-5D79-D70A59DD1433}"/>
              </a:ext>
            </a:extLst>
          </p:cNvPr>
          <p:cNvSpPr/>
          <p:nvPr/>
        </p:nvSpPr>
        <p:spPr>
          <a:xfrm>
            <a:off x="11075504" y="6460435"/>
            <a:ext cx="1086016" cy="38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D6C425-E26C-0280-7C31-9A56E0A58263}"/>
              </a:ext>
            </a:extLst>
          </p:cNvPr>
          <p:cNvSpPr/>
          <p:nvPr/>
        </p:nvSpPr>
        <p:spPr>
          <a:xfrm>
            <a:off x="10780642" y="218661"/>
            <a:ext cx="1265583" cy="318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401</Words>
  <Application>Microsoft Macintosh PowerPoint</Application>
  <PresentationFormat>Widescreen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Manuel Barbero</cp:lastModifiedBy>
  <cp:revision>3</cp:revision>
  <dcterms:created xsi:type="dcterms:W3CDTF">2026-03-01T22:26:57Z</dcterms:created>
  <dcterms:modified xsi:type="dcterms:W3CDTF">2026-03-01T22:43:28Z</dcterms:modified>
</cp:coreProperties>
</file>