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compatMode="1" strictFirstAndLastChars="0" saveSubsetFonts="1">
  <p:sldMasterIdLst>
    <p:sldMasterId id="2147483686" r:id="rId1"/>
    <p:sldMasterId id="2147483688" r:id="rId2"/>
  </p:sldMasterIdLst>
  <p:notesMasterIdLst>
    <p:notesMasterId r:id="rId13"/>
  </p:notesMasterIdLst>
  <p:handoutMasterIdLst>
    <p:handoutMasterId r:id="rId14"/>
  </p:handoutMasterIdLst>
  <p:sldIdLst>
    <p:sldId id="756" r:id="rId3"/>
    <p:sldId id="1660" r:id="rId4"/>
    <p:sldId id="1648" r:id="rId5"/>
    <p:sldId id="1649" r:id="rId6"/>
    <p:sldId id="1661" r:id="rId7"/>
    <p:sldId id="1651" r:id="rId8"/>
    <p:sldId id="1662" r:id="rId9"/>
    <p:sldId id="1663" r:id="rId10"/>
    <p:sldId id="1664" r:id="rId11"/>
    <p:sldId id="1665" r:id="rId12"/>
  </p:sldIdLst>
  <p:sldSz cx="10058400" cy="7543800"/>
  <p:notesSz cx="6858000" cy="9144000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1pPr>
    <a:lvl2pPr marL="457200" algn="l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2pPr>
    <a:lvl3pPr marL="914400" algn="l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3pPr>
    <a:lvl4pPr marL="1371600" algn="l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4pPr>
    <a:lvl5pPr marL="1828800" algn="l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5pPr>
    <a:lvl6pPr marL="2286000" algn="l" defTabSz="914400" rtl="0" eaLnBrk="1" latinLnBrk="0" hangingPunct="1"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6pPr>
    <a:lvl7pPr marL="2743200" algn="l" defTabSz="914400" rtl="0" eaLnBrk="1" latinLnBrk="0" hangingPunct="1"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7pPr>
    <a:lvl8pPr marL="3200400" algn="l" defTabSz="914400" rtl="0" eaLnBrk="1" latinLnBrk="0" hangingPunct="1"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8pPr>
    <a:lvl9pPr marL="3657600" algn="l" defTabSz="914400" rtl="0" eaLnBrk="1" latinLnBrk="0" hangingPunct="1">
      <a:defRPr sz="2200" b="1" kern="1200">
        <a:solidFill>
          <a:schemeClr val="tx1"/>
        </a:solidFill>
        <a:latin typeface="UBSHeadline" pitchFamily="18" charset="0"/>
        <a:ea typeface="Arial Unicode MS" panose="020B0604020202020204" pitchFamily="34" charset="-128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743">
          <p15:clr>
            <a:srgbClr val="A4A3A4"/>
          </p15:clr>
        </p15:guide>
        <p15:guide id="2" pos="48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8" autoAdjust="0"/>
    <p:restoredTop sz="96327" autoAdjust="0"/>
  </p:normalViewPr>
  <p:slideViewPr>
    <p:cSldViewPr>
      <p:cViewPr varScale="1">
        <p:scale>
          <a:sx n="112" d="100"/>
          <a:sy n="112" d="100"/>
        </p:scale>
        <p:origin x="2160" y="192"/>
      </p:cViewPr>
      <p:guideLst>
        <p:guide orient="horz" pos="743"/>
        <p:guide pos="480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2286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308EB7E0-847E-98B9-61AE-C3EA888B7C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96888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defTabSz="871538" eaLnBrk="0" hangingPunct="0">
              <a:spcBef>
                <a:spcPct val="50000"/>
              </a:spcBef>
              <a:defRPr sz="12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CC55646-9BC3-6B0F-3136-9907EB4E37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513513" y="0"/>
            <a:ext cx="320675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defTabSz="871538" eaLnBrk="0" hangingPunct="0">
              <a:spcBef>
                <a:spcPct val="50000"/>
              </a:spcBef>
              <a:defRPr sz="12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2EA32F42-635D-BF04-5511-4F8255C8BE3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8100"/>
            <a:ext cx="439738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defTabSz="871538" eaLnBrk="0" hangingPunct="0">
              <a:spcBef>
                <a:spcPct val="50000"/>
              </a:spcBef>
              <a:defRPr sz="12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4DA6FCCA-10DC-26DA-F8F5-FBC4FCD559A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48450" y="8928100"/>
            <a:ext cx="185738" cy="1825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871538" eaLnBrk="0" hangingPunct="0">
              <a:spcBef>
                <a:spcPct val="50000"/>
              </a:spcBef>
              <a:defRPr sz="1200" b="0">
                <a:latin typeface="Arial Unicode MS" panose="020B0604020202020204" pitchFamily="34" charset="-128"/>
              </a:defRPr>
            </a:lvl1pPr>
          </a:lstStyle>
          <a:p>
            <a:fld id="{43D01EA2-EC46-B348-9B80-D46C1B6B2D5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18E0DAC3-870F-CB52-4240-C820CA0021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19125" y="254000"/>
            <a:ext cx="3492500" cy="2619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BC841341-4321-4CB4-BF06-75170D1CA9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8338" y="3219450"/>
            <a:ext cx="5819775" cy="523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373CD419-F252-EB2D-9681-BF97E90952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16338" y="8686800"/>
            <a:ext cx="2973387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637" tIns="0" rIns="19637" bIns="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100" b="0">
                <a:latin typeface="Frutiger 55 Roman" pitchFamily="34" charset="0"/>
              </a:defRPr>
            </a:lvl1pPr>
          </a:lstStyle>
          <a:p>
            <a:fld id="{4F34A457-9AE8-D645-80C8-89BEED70B503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4341" name="Line 8">
            <a:extLst>
              <a:ext uri="{FF2B5EF4-FFF2-40B4-BE49-F238E27FC236}">
                <a16:creationId xmlns:a16="http://schemas.microsoft.com/office/drawing/2014/main" id="{3B807C64-5027-64CB-4DAC-A6D94257B59A}"/>
              </a:ext>
            </a:extLst>
          </p:cNvPr>
          <p:cNvSpPr>
            <a:spLocks noChangeShapeType="1"/>
          </p:cNvSpPr>
          <p:nvPr/>
        </p:nvSpPr>
        <p:spPr bwMode="gray">
          <a:xfrm>
            <a:off x="668338" y="3082925"/>
            <a:ext cx="5794375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93675" indent="-193675" algn="l" rtl="0" eaLnBrk="0" fontAlgn="base" hangingPunct="0">
      <a:spcBef>
        <a:spcPct val="30000"/>
      </a:spcBef>
      <a:spcAft>
        <a:spcPct val="0"/>
      </a:spcAft>
      <a:buClr>
        <a:schemeClr val="tx2"/>
      </a:buClr>
      <a:buSzPct val="123000"/>
      <a:buFont typeface="Symbol" pitchFamily="2" charset="2"/>
      <a:buChar char="¨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1pPr>
    <a:lvl2pPr marL="563563" indent="-179388" algn="l" rtl="0" eaLnBrk="0" fontAlgn="base" hangingPunct="0">
      <a:spcBef>
        <a:spcPct val="30000"/>
      </a:spcBef>
      <a:spcAft>
        <a:spcPct val="0"/>
      </a:spcAft>
      <a:buSzPct val="80000"/>
      <a:buChar char="—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2pPr>
    <a:lvl3pPr marL="947738" indent="-193675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3pPr>
    <a:lvl4pPr marL="1341438" indent="-203200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4pPr>
    <a:lvl5pPr marL="1711325" indent="-179388" algn="l" rtl="0" eaLnBrk="0" fontAlgn="base" hangingPunct="0">
      <a:spcBef>
        <a:spcPct val="30000"/>
      </a:spcBef>
      <a:spcAft>
        <a:spcPct val="0"/>
      </a:spcAft>
      <a:buSzPct val="85000"/>
      <a:buChar char="–"/>
      <a:defRPr sz="1200" kern="1200">
        <a:solidFill>
          <a:schemeClr val="tx1"/>
        </a:solidFill>
        <a:latin typeface="Frutiger 55 Roman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D01F93D-E3CB-F33A-7F6C-1410E289F15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716338" y="8686800"/>
            <a:ext cx="2973387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637" tIns="0" rIns="19637" bIns="0" anchor="b"/>
          <a:lstStyle>
            <a:lvl1pPr defTabSz="93503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3503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3503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3503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3503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3503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fld id="{768564D6-A357-2F41-AB3A-C1973522CBF7}" type="slidenum">
              <a:rPr lang="en-US" altLang="zh-TW" sz="1100" b="0">
                <a:latin typeface="Frutiger 55 Roman" pitchFamily="34" charset="0"/>
              </a:rPr>
              <a:pPr algn="r"/>
              <a:t>0</a:t>
            </a:fld>
            <a:endParaRPr lang="en-US" altLang="zh-TW" sz="1100" b="0">
              <a:latin typeface="Frutiger 55 Roman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E76CBFE-AC19-B2B8-22E6-3326E0706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C2838C3-0308-802C-DEC3-AA84BC892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_tradnl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118E117-4C44-BBEA-867C-A36F82B84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5950" y="254000"/>
            <a:ext cx="3492500" cy="2619375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F666B5A-EC9A-EDED-5220-AC29C7525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338" y="3217863"/>
            <a:ext cx="5818187" cy="52371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7FB50B6-8F8D-3077-91C0-612EF485C1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9125" y="254000"/>
            <a:ext cx="3489325" cy="2617788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49A2A26-36C9-A0EA-07F5-D4F5C22AF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338" y="3217863"/>
            <a:ext cx="5819775" cy="5235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CH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FE2CF34-4DCF-839C-F0F8-1F7C1FC0D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7237" cy="3425825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286CD65-3172-1DC5-1404-194301AE2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F2B8FC5-7624-7AD3-82B4-AE66314A6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7237" cy="3425825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47AA57A-3A62-609B-7428-7BE3A791F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1.xml"/><Relationship Id="rId7" Type="http://schemas.openxmlformats.org/officeDocument/2006/relationships/oleObject" Target="../embeddings/oleObject2.bin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2" hidden="1">
            <a:extLst>
              <a:ext uri="{FF2B5EF4-FFF2-40B4-BE49-F238E27FC236}">
                <a16:creationId xmlns:a16="http://schemas.microsoft.com/office/drawing/2014/main" id="{7395F949-4321-8A9C-E2AF-7CA49F5572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TCLayout.ActiveDocument.1">
                  <p:embed/>
                </p:oleObj>
              </mc:Choice>
              <mc:Fallback>
                <p:oleObj name="think-cell Slide" r:id="rId7" imgW="0" imgH="0" progId="TCLayout.ActiveDocument.1">
                  <p:embed/>
                  <p:pic>
                    <p:nvPicPr>
                      <p:cNvPr id="3074" name="Rectangle 2" hidden="1">
                        <a:extLst>
                          <a:ext uri="{FF2B5EF4-FFF2-40B4-BE49-F238E27FC236}">
                            <a16:creationId xmlns:a16="http://schemas.microsoft.com/office/drawing/2014/main" id="{6DF005FF-F928-A98A-F2BE-8EAF6A2717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VER BLUE BOX">
            <a:extLst>
              <a:ext uri="{FF2B5EF4-FFF2-40B4-BE49-F238E27FC236}">
                <a16:creationId xmlns:a16="http://schemas.microsoft.com/office/drawing/2014/main" id="{44CF7B91-6750-F6E4-6AF7-425DF4F13A6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365125" y="1704975"/>
            <a:ext cx="7651750" cy="28448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4" name="Picture 6" descr="ucoxw4">
            <a:extLst>
              <a:ext uri="{FF2B5EF4-FFF2-40B4-BE49-F238E27FC236}">
                <a16:creationId xmlns:a16="http://schemas.microsoft.com/office/drawing/2014/main" id="{7F54D4A7-1317-BA83-4E1D-48CF7EBEAF6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92088"/>
            <a:ext cx="9302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grpSp>
        <p:nvGrpSpPr>
          <p:cNvPr id="5" name="McK Title Elements">
            <a:extLst>
              <a:ext uri="{FF2B5EF4-FFF2-40B4-BE49-F238E27FC236}">
                <a16:creationId xmlns:a16="http://schemas.microsoft.com/office/drawing/2014/main" id="{9FC85A14-9484-4745-EE79-EFC8DCFB41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65175" y="2406650"/>
            <a:ext cx="5641975" cy="4810125"/>
            <a:chOff x="482" y="1516"/>
            <a:chExt cx="3555" cy="3029"/>
          </a:xfrm>
        </p:grpSpPr>
        <p:sp>
          <p:nvSpPr>
            <p:cNvPr id="6" name="McK Confidential" hidden="1">
              <a:extLst>
                <a:ext uri="{FF2B5EF4-FFF2-40B4-BE49-F238E27FC236}">
                  <a16:creationId xmlns:a16="http://schemas.microsoft.com/office/drawing/2014/main" id="{A23F0042-DA91-7D16-8927-E0C94B566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" y="1516"/>
              <a:ext cx="105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1pPr>
              <a:lvl2pPr marL="512763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2pPr>
              <a:lvl3pPr marL="102552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3pPr>
              <a:lvl4pPr marL="153987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4pPr>
              <a:lvl5pPr marL="2052638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5pPr>
              <a:lvl6pPr marL="25098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6pPr>
              <a:lvl7pPr marL="29670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7pPr>
              <a:lvl8pPr marL="34242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8pPr>
              <a:lvl9pPr marL="38814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>
                <a:defRPr/>
              </a:pPr>
              <a:r>
                <a:rPr lang="en-GB" sz="1700" b="0">
                  <a:solidFill>
                    <a:schemeClr val="bg1"/>
                  </a:solidFill>
                  <a:latin typeface="Frutiger 55 Roman" pitchFamily="34" charset="0"/>
                </a:rPr>
                <a:t>CONFIDENTIAL</a:t>
              </a:r>
            </a:p>
          </p:txBody>
        </p:sp>
        <p:sp>
          <p:nvSpPr>
            <p:cNvPr id="7" name="McK Document" hidden="1">
              <a:extLst>
                <a:ext uri="{FF2B5EF4-FFF2-40B4-BE49-F238E27FC236}">
                  <a16:creationId xmlns:a16="http://schemas.microsoft.com/office/drawing/2014/main" id="{56452D9E-7A8E-ECA7-7FD2-219E010A5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" y="3418"/>
              <a:ext cx="355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1pPr>
              <a:lvl2pPr marL="512763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2pPr>
              <a:lvl3pPr marL="102552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3pPr>
              <a:lvl4pPr marL="153987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4pPr>
              <a:lvl5pPr marL="2052638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5pPr>
              <a:lvl6pPr marL="25098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6pPr>
              <a:lvl7pPr marL="29670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7pPr>
              <a:lvl8pPr marL="34242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8pPr>
              <a:lvl9pPr marL="38814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>
                <a:defRPr/>
              </a:pPr>
              <a:r>
                <a:rPr lang="en-GB" sz="1700" b="0">
                  <a:latin typeface="Frutiger 55 Roman" pitchFamily="34" charset="0"/>
                </a:rPr>
                <a:t>Document</a:t>
              </a:r>
            </a:p>
          </p:txBody>
        </p:sp>
        <p:sp>
          <p:nvSpPr>
            <p:cNvPr id="8" name="McK Date" hidden="1">
              <a:extLst>
                <a:ext uri="{FF2B5EF4-FFF2-40B4-BE49-F238E27FC236}">
                  <a16:creationId xmlns:a16="http://schemas.microsoft.com/office/drawing/2014/main" id="{FC333B7B-4DA1-34BE-4093-599E09DBE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" y="4391"/>
              <a:ext cx="355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1pPr>
              <a:lvl2pPr marL="512763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2pPr>
              <a:lvl3pPr marL="102552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3pPr>
              <a:lvl4pPr marL="1539875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4pPr>
              <a:lvl5pPr marL="2052638" defTabSz="102552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5pPr>
              <a:lvl6pPr marL="25098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6pPr>
              <a:lvl7pPr marL="29670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7pPr>
              <a:lvl8pPr marL="34242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8pPr>
              <a:lvl9pPr marL="3881438" defTabSz="10255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>
                <a:defRPr/>
              </a:pPr>
              <a:r>
                <a:rPr lang="en-GB" sz="1700" b="0">
                  <a:latin typeface="Frutiger 55 Roman" pitchFamily="34" charset="0"/>
                </a:rPr>
                <a:t>Date</a:t>
              </a:r>
            </a:p>
          </p:txBody>
        </p:sp>
      </p:grpSp>
      <p:sp>
        <p:nvSpPr>
          <p:cNvPr id="9" name="Line 664">
            <a:extLst>
              <a:ext uri="{FF2B5EF4-FFF2-40B4-BE49-F238E27FC236}">
                <a16:creationId xmlns:a16="http://schemas.microsoft.com/office/drawing/2014/main" id="{1FF9F9CB-153A-065B-8C92-210E4FFD6B9C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white">
          <a:xfrm>
            <a:off x="752475" y="3630613"/>
            <a:ext cx="6881813" cy="15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5175" y="2036763"/>
            <a:ext cx="6980238" cy="1504950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586757" name="Rectangle 5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750888" y="3840163"/>
            <a:ext cx="6983412" cy="365125"/>
          </a:xfrm>
          <a:solidFill>
            <a:srgbClr val="193D85"/>
          </a:solidFill>
          <a:extLst>
            <a:ext uri="{91240B29-F687-4F45-9708-019B960494DF}">
              <a14:hiddenLine xmlns:a14="http://schemas.microsoft.com/office/drawing/2010/main" w="28575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193D85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 marL="0" indent="0" defTabSz="914400" eaLnBrk="0" hangingPunct="0">
              <a:spcBef>
                <a:spcPct val="0"/>
              </a:spcBef>
              <a:buClrTx/>
              <a:buFontTx/>
              <a:buNone/>
              <a:defRPr sz="2000">
                <a:solidFill>
                  <a:srgbClr val="FFD539"/>
                </a:solidFill>
                <a:latin typeface="UBSHeadline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GB" noProof="0"/>
              <a:t>Click to edit Master subtitle style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2DBC13D-6EE2-48EC-64F7-2A1607166329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5"/>
            </p:custDataLst>
          </p:nvPr>
        </p:nvSpPr>
        <p:spPr bwMode="black">
          <a:xfrm>
            <a:off x="9569450" y="7050088"/>
            <a:ext cx="412750" cy="3794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 defTabSz="1006475" eaLnBrk="0" hangingPunct="0">
              <a:defRPr sz="700" b="0">
                <a:latin typeface="Frutiger 55 Roman" pitchFamily="34" charset="0"/>
              </a:defRPr>
            </a:lvl1pPr>
          </a:lstStyle>
          <a:p>
            <a:fld id="{C9555DB7-C4AE-D843-BD6D-04FD534706A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482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659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848225"/>
            <a:ext cx="8548687" cy="14970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197225"/>
            <a:ext cx="8548687" cy="16510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189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1525" y="1428750"/>
            <a:ext cx="4233863" cy="4932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7788" y="1428750"/>
            <a:ext cx="4235450" cy="4932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516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1925" cy="12573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689100"/>
            <a:ext cx="4443412" cy="703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392363"/>
            <a:ext cx="4443412" cy="434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689100"/>
            <a:ext cx="4445000" cy="703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392363"/>
            <a:ext cx="4445000" cy="434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042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250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81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0038"/>
            <a:ext cx="3308350" cy="127793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300038"/>
            <a:ext cx="5622925" cy="6438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577975"/>
            <a:ext cx="3308350" cy="5160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62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280025"/>
            <a:ext cx="6035675" cy="6238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74688"/>
            <a:ext cx="6035675" cy="45259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5903913"/>
            <a:ext cx="6035675" cy="885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56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53288" y="0"/>
            <a:ext cx="2162175" cy="6361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5175" y="0"/>
            <a:ext cx="6335713" cy="6361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03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LINE">
            <a:extLst>
              <a:ext uri="{FF2B5EF4-FFF2-40B4-BE49-F238E27FC236}">
                <a16:creationId xmlns:a16="http://schemas.microsoft.com/office/drawing/2014/main" id="{9A7654DE-9A51-4241-AD10-CA420F156970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black">
          <a:xfrm>
            <a:off x="1747838" y="2892425"/>
            <a:ext cx="62611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50EB1C-8A45-44D7-8655-811EE1CC1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58775"/>
            <a:ext cx="1143000" cy="62801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de-CH" altLang="en-US" sz="1800">
              <a:latin typeface="Arial" panose="020B0604020202020204" pitchFamily="34" charset="0"/>
            </a:endParaRPr>
          </a:p>
        </p:txBody>
      </p:sp>
      <p:pic>
        <p:nvPicPr>
          <p:cNvPr id="4" name="Picture 6" descr="urgbx1">
            <a:extLst>
              <a:ext uri="{FF2B5EF4-FFF2-40B4-BE49-F238E27FC236}">
                <a16:creationId xmlns:a16="http://schemas.microsoft.com/office/drawing/2014/main" id="{F1A5DFD3-3B55-546C-07E2-6B19385182BD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6989763"/>
            <a:ext cx="796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sp>
        <p:nvSpPr>
          <p:cNvPr id="1811458" name="DIVIDER NUMBER"/>
          <p:cNvSpPr>
            <a:spLocks noGrp="1" noChangeArrowheads="1"/>
          </p:cNvSpPr>
          <p:nvPr>
            <p:ph type="ctrTitle"/>
          </p:nvPr>
        </p:nvSpPr>
        <p:spPr>
          <a:xfrm>
            <a:off x="1747838" y="1087438"/>
            <a:ext cx="6270625" cy="1690687"/>
          </a:xfrm>
          <a:extLst>
            <a:ext uri="{909E8E84-426E-40DD-AFC4-6F175D3DCCD1}">
              <a14:hiddenFill xmlns:a14="http://schemas.microsoft.com/office/drawing/2010/main">
                <a:solidFill>
                  <a:srgbClr val="2D519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15000"/>
              </a:lnSpc>
              <a:defRPr sz="1300">
                <a:solidFill>
                  <a:schemeClr val="tx1"/>
                </a:solidFill>
                <a:latin typeface="Frutiger 55 Roman" pitchFamily="34" charset="0"/>
              </a:defRPr>
            </a:lvl1pPr>
          </a:lstStyle>
          <a:p>
            <a:pPr lvl="0"/>
            <a:r>
              <a:rPr lang="en-US" altLang="zh-TW" noProof="0"/>
              <a:t>Click to edit Section / Appendix number</a:t>
            </a:r>
          </a:p>
        </p:txBody>
      </p:sp>
      <p:sp>
        <p:nvSpPr>
          <p:cNvPr id="1811459" name="DIVIDER TITLE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747838" y="3035300"/>
            <a:ext cx="6270625" cy="1373188"/>
          </a:xfrm>
        </p:spPr>
        <p:txBody>
          <a:bodyPr/>
          <a:lstStyle>
            <a:lvl1pPr marL="0" indent="0">
              <a:spcBef>
                <a:spcPct val="0"/>
              </a:spcBef>
              <a:buFont typeface="Symbol" pitchFamily="18" charset="2"/>
              <a:buNone/>
              <a:defRPr sz="2800">
                <a:solidFill>
                  <a:schemeClr val="tx2"/>
                </a:solidFill>
                <a:latin typeface="UBSHeadline" pitchFamily="18" charset="0"/>
              </a:defRPr>
            </a:lvl1pPr>
          </a:lstStyle>
          <a:p>
            <a:pPr lvl="0"/>
            <a:r>
              <a:rPr lang="en-US" altLang="zh-TW" noProof="0"/>
              <a:t>Click to edit Section / Appendix title</a:t>
            </a:r>
          </a:p>
        </p:txBody>
      </p:sp>
    </p:spTree>
    <p:extLst>
      <p:ext uri="{BB962C8B-B14F-4D97-AF65-F5344CB8AC3E}">
        <p14:creationId xmlns:p14="http://schemas.microsoft.com/office/powerpoint/2010/main" val="204867327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BE2240AF-58E3-AAEC-0B57-80AA5C87368F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49D9B5-E027-4F4D-8E4F-70C1D01B912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727793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848225"/>
            <a:ext cx="8548687" cy="14970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197225"/>
            <a:ext cx="8548687" cy="16510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2D763661-6BE2-F72A-6F0F-447F409C3CB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215F7-44BE-254E-AC3B-0F829AC32EE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875699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5175" y="1681163"/>
            <a:ext cx="4235450" cy="4930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3025" y="1681163"/>
            <a:ext cx="4235450" cy="4930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3DAC84D6-E3F1-C297-CD07-FE703FFF9907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B00C2-F461-5341-8B82-D7C582919E0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36867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1925" cy="12573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689100"/>
            <a:ext cx="4443412" cy="703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392363"/>
            <a:ext cx="4443412" cy="434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689100"/>
            <a:ext cx="4445000" cy="703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392363"/>
            <a:ext cx="4445000" cy="434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3F5047D-307F-F991-8C4E-AB7E34C7F41C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AAE77-EB8E-0C4F-8DC7-6D40FE727B8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184367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49819038-0D44-32EF-3354-052C94081E1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875843-E3C3-8149-93B5-69C2F881E10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773711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>
            <a:extLst>
              <a:ext uri="{FF2B5EF4-FFF2-40B4-BE49-F238E27FC236}">
                <a16:creationId xmlns:a16="http://schemas.microsoft.com/office/drawing/2014/main" id="{9B34F91E-94EA-A579-8FB4-BFB9F3D05B1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DB90AD-508A-8D44-BD8E-BF1F5B339E1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583719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0038"/>
            <a:ext cx="3308350" cy="127793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300038"/>
            <a:ext cx="5622925" cy="6438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577975"/>
            <a:ext cx="3308350" cy="5160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6E06E4CA-E724-6247-6ACC-7D068A57BE2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08D230-EB23-B142-A219-37E816D61B5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724055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280025"/>
            <a:ext cx="6035675" cy="6238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74688"/>
            <a:ext cx="6035675" cy="45259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5903913"/>
            <a:ext cx="6035675" cy="885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499E546D-DB31-00C8-F6F6-ECC2DC85808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60230-0F15-0547-A3A7-37DFB8394B2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23491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18AC913D-5161-D8A8-0656-32EBB1B382EF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BF81A-3143-2C4E-A341-15844224773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49122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56463" y="0"/>
            <a:ext cx="2162175" cy="6611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5175" y="0"/>
            <a:ext cx="6338888" cy="6611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62EA6838-D7D2-B7F6-CEFE-1D3DDB860A48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0FC541-2DFB-C947-B11A-74C842F8A2D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489194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175" y="0"/>
            <a:ext cx="8653463" cy="941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5175" y="1681163"/>
            <a:ext cx="8623300" cy="49307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4F8C57D-CB4C-E3B7-7548-CE6C24602E33}"/>
              </a:ext>
            </a:extLst>
          </p:cNvPr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2E8B1-FA20-EC48-93CC-4E52F992938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212257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openxmlformats.org/officeDocument/2006/relationships/tags" Target="../tags/tag18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ags" Target="../tags/tag17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5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19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2" hidden="1">
            <a:extLst>
              <a:ext uri="{FF2B5EF4-FFF2-40B4-BE49-F238E27FC236}">
                <a16:creationId xmlns:a16="http://schemas.microsoft.com/office/drawing/2014/main" id="{1439831C-92B4-3ED8-1050-A8C9D5329940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0" imgH="0" progId="TCLayout.ActiveDocument.1">
                  <p:embed/>
                </p:oleObj>
              </mc:Choice>
              <mc:Fallback>
                <p:oleObj name="think-cell Slide" r:id="rId20" imgW="0" imgH="0" progId="TCLayout.ActiveDocument.1">
                  <p:embed/>
                  <p:pic>
                    <p:nvPicPr>
                      <p:cNvPr id="0" name="Rectangle 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McK Slide Elements">
            <a:extLst>
              <a:ext uri="{FF2B5EF4-FFF2-40B4-BE49-F238E27FC236}">
                <a16:creationId xmlns:a16="http://schemas.microsoft.com/office/drawing/2014/main" id="{C3199A1E-4D1E-2C9E-DBB9-8C5A8E953BB6}"/>
              </a:ext>
            </a:extLst>
          </p:cNvPr>
          <p:cNvGrpSpPr>
            <a:grpSpLocks/>
          </p:cNvGrpSpPr>
          <p:nvPr/>
        </p:nvGrpSpPr>
        <p:grpSpPr bwMode="auto">
          <a:xfrm>
            <a:off x="765175" y="1085850"/>
            <a:ext cx="8607425" cy="6189663"/>
            <a:chOff x="482" y="684"/>
            <a:chExt cx="5423" cy="3898"/>
          </a:xfrm>
        </p:grpSpPr>
        <p:sp>
          <p:nvSpPr>
            <p:cNvPr id="585732" name="McK Measure" hidden="1">
              <a:extLst>
                <a:ext uri="{FF2B5EF4-FFF2-40B4-BE49-F238E27FC236}">
                  <a16:creationId xmlns:a16="http://schemas.microsoft.com/office/drawing/2014/main" id="{03C268EE-D84A-07EF-F0D6-835A09ACD7B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482" y="684"/>
              <a:ext cx="538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100647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1pPr>
              <a:lvl2pPr marL="503238" defTabSz="100647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2pPr>
              <a:lvl3pPr marL="1006475" defTabSz="100647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3pPr>
              <a:lvl4pPr marL="1508125" defTabSz="100647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4pPr>
              <a:lvl5pPr marL="2011363" defTabSz="1006475"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5pPr>
              <a:lvl6pPr marL="2468563" defTabSz="100647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6pPr>
              <a:lvl7pPr marL="2925763" defTabSz="100647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7pPr>
              <a:lvl8pPr marL="3382963" defTabSz="100647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8pPr>
              <a:lvl9pPr marL="3840163" defTabSz="100647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0" hangingPunct="0">
                <a:defRPr/>
              </a:pPr>
              <a:r>
                <a:rPr lang="en-GB" sz="2000">
                  <a:solidFill>
                    <a:schemeClr val="bg2"/>
                  </a:solidFill>
                  <a:latin typeface="Frutiger 55 Roman" pitchFamily="34" charset="0"/>
                </a:rPr>
                <a:t>Unit of measure</a:t>
              </a:r>
            </a:p>
          </p:txBody>
        </p:sp>
        <p:sp>
          <p:nvSpPr>
            <p:cNvPr id="1034" name="McK Footnote" hidden="1">
              <a:extLst>
                <a:ext uri="{FF2B5EF4-FFF2-40B4-BE49-F238E27FC236}">
                  <a16:creationId xmlns:a16="http://schemas.microsoft.com/office/drawing/2014/main" id="{D6A080DA-78C6-8408-A5F7-13EE29FB5658}"/>
                </a:ext>
              </a:extLst>
            </p:cNvPr>
            <p:cNvSpPr>
              <a:spLocks noChangeArrowheads="1"/>
            </p:cNvSpPr>
            <p:nvPr userDrawn="1">
              <p:custDataLst>
                <p:tags r:id="rId19"/>
              </p:custDataLst>
            </p:nvPr>
          </p:nvSpPr>
          <p:spPr bwMode="auto">
            <a:xfrm>
              <a:off x="819" y="4329"/>
              <a:ext cx="508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644525" indent="-644525" defTabSz="1025525" eaLnBrk="0" hangingPunct="0"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 marL="742950" indent="-285750" defTabSz="1025525" eaLnBrk="0" hangingPunct="0"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 marL="1143000" indent="-228600" defTabSz="1025525" eaLnBrk="0" hangingPunct="0"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 marL="1600200" indent="-228600" defTabSz="1025525" eaLnBrk="0" hangingPunct="0"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 marL="2057400" indent="-228600" defTabSz="1025525" eaLnBrk="0" hangingPunct="0"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10255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10255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10255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102552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r"/>
                </a:tabLs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r>
                <a:rPr lang="en-GB" altLang="en-US" sz="1200" b="0">
                  <a:latin typeface="Frutiger 55 Roman" pitchFamily="34" charset="0"/>
                </a:rPr>
                <a:t>	*	Footnote</a:t>
              </a:r>
            </a:p>
            <a:p>
              <a:pPr>
                <a:spcBef>
                  <a:spcPct val="20000"/>
                </a:spcBef>
              </a:pPr>
              <a:r>
                <a:rPr lang="en-GB" altLang="en-US" sz="1200" b="0">
                  <a:latin typeface="Frutiger 55 Roman" pitchFamily="34" charset="0"/>
                </a:rPr>
                <a:t>	Source:	Source</a:t>
              </a:r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9151C7AB-E05C-258A-580A-C26D57C6395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765175" y="0"/>
            <a:ext cx="8650288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651BE672-4073-88A6-308B-ECE2BF160CD8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15"/>
            </p:custDataLst>
          </p:nvPr>
        </p:nvSpPr>
        <p:spPr bwMode="auto">
          <a:xfrm>
            <a:off x="771525" y="1428750"/>
            <a:ext cx="8621713" cy="493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30" name="THIN BLUE LINE">
            <a:extLst>
              <a:ext uri="{FF2B5EF4-FFF2-40B4-BE49-F238E27FC236}">
                <a16:creationId xmlns:a16="http://schemas.microsoft.com/office/drawing/2014/main" id="{A812377C-8717-6949-817C-DB07427EE032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gray">
          <a:xfrm>
            <a:off x="771525" y="984250"/>
            <a:ext cx="8645525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1" name="Picture 10" descr="ucoxw4">
            <a:extLst>
              <a:ext uri="{FF2B5EF4-FFF2-40B4-BE49-F238E27FC236}">
                <a16:creationId xmlns:a16="http://schemas.microsoft.com/office/drawing/2014/main" id="{2C0AF40A-E878-99B9-0CA9-ABFC957A77DA}"/>
              </a:ext>
            </a:extLst>
          </p:cNvPr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6991350"/>
            <a:ext cx="796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  <p:sp>
        <p:nvSpPr>
          <p:cNvPr id="1032" name="PAGE NUMBER">
            <a:extLst>
              <a:ext uri="{FF2B5EF4-FFF2-40B4-BE49-F238E27FC236}">
                <a16:creationId xmlns:a16="http://schemas.microsoft.com/office/drawing/2014/main" id="{2DE3A8BF-483A-652A-B308-EA32A6CAB39F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black">
          <a:xfrm>
            <a:off x="9569450" y="7050088"/>
            <a:ext cx="4127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fld id="{114FBCFC-2F40-7C41-AEAF-BAE5CB37439B}" type="slidenum">
              <a:rPr lang="en-US" altLang="zh-TW" sz="700" b="0">
                <a:latin typeface="Frutiger 55 Roman" pitchFamily="34" charset="0"/>
              </a:rPr>
              <a:pPr algn="r"/>
              <a:t>‹#›</a:t>
            </a:fld>
            <a:endParaRPr lang="en-US" altLang="zh-TW" sz="700" b="0">
              <a:latin typeface="Frutiger 55 Roman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77" r:id="rId2"/>
    <p:sldLayoutId id="2147483976" r:id="rId3"/>
    <p:sldLayoutId id="2147483975" r:id="rId4"/>
    <p:sldLayoutId id="2147483974" r:id="rId5"/>
    <p:sldLayoutId id="2147483973" r:id="rId6"/>
    <p:sldLayoutId id="2147483972" r:id="rId7"/>
    <p:sldLayoutId id="2147483971" r:id="rId8"/>
    <p:sldLayoutId id="2147483970" r:id="rId9"/>
    <p:sldLayoutId id="2147483969" r:id="rId10"/>
    <p:sldLayoutId id="2147483968" r:id="rId11"/>
  </p:sldLayoutIdLst>
  <p:hf hdr="0" ftr="0" dt="0"/>
  <p:txStyles>
    <p:titleStyle>
      <a:lvl1pPr algn="l" defTabSz="1004888" rtl="0" eaLnBrk="0" fontAlgn="base" hangingPunct="0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j-lt"/>
          <a:ea typeface="+mj-ea"/>
          <a:cs typeface="+mj-cs"/>
        </a:defRPr>
      </a:lvl1pPr>
      <a:lvl2pPr algn="l" defTabSz="1004888" rtl="0" eaLnBrk="0" fontAlgn="base" hangingPunct="0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2pPr>
      <a:lvl3pPr algn="l" defTabSz="1004888" rtl="0" eaLnBrk="0" fontAlgn="base" hangingPunct="0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3pPr>
      <a:lvl4pPr algn="l" defTabSz="1004888" rtl="0" eaLnBrk="0" fontAlgn="base" hangingPunct="0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4pPr>
      <a:lvl5pPr algn="l" defTabSz="1004888" rtl="0" eaLnBrk="0" fontAlgn="base" hangingPunct="0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5pPr>
      <a:lvl6pPr marL="457200" algn="l" defTabSz="1004888" rtl="0" fontAlgn="base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6pPr>
      <a:lvl7pPr marL="914400" algn="l" defTabSz="1004888" rtl="0" fontAlgn="base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7pPr>
      <a:lvl8pPr marL="1371600" algn="l" defTabSz="1004888" rtl="0" fontAlgn="base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8pPr>
      <a:lvl9pPr marL="1828800" algn="l" defTabSz="1004888" rtl="0" fontAlgn="base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cs typeface="Arial" charset="0"/>
        </a:defRPr>
      </a:lvl9pPr>
    </p:titleStyle>
    <p:bodyStyle>
      <a:lvl1pPr marL="228600" indent="-228600" algn="l" defTabSz="1006475" rtl="0" eaLnBrk="0" fontAlgn="base" hangingPunct="0">
        <a:spcBef>
          <a:spcPct val="65000"/>
        </a:spcBef>
        <a:spcAft>
          <a:spcPct val="0"/>
        </a:spcAft>
        <a:buClr>
          <a:schemeClr val="bg2"/>
        </a:buClr>
        <a:buFont typeface="Symbol" pitchFamily="2" charset="2"/>
        <a:buChar char="¨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1006475" rtl="0" eaLnBrk="0" fontAlgn="base" hangingPunct="0">
        <a:spcBef>
          <a:spcPct val="35000"/>
        </a:spcBef>
        <a:spcAft>
          <a:spcPct val="0"/>
        </a:spcAft>
        <a:buClr>
          <a:schemeClr val="tx1"/>
        </a:buClr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2pPr>
      <a:lvl3pPr marL="685800" indent="-228600" algn="l" defTabSz="1006475" rtl="0" eaLnBrk="0" fontAlgn="base" hangingPunct="0">
        <a:spcBef>
          <a:spcPct val="35000"/>
        </a:spcBef>
        <a:spcAft>
          <a:spcPct val="0"/>
        </a:spcAft>
        <a:buClr>
          <a:schemeClr val="tx1"/>
        </a:buClr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3pPr>
      <a:lvl4pPr marL="914400" indent="-228600" algn="l" defTabSz="1006475" rtl="0" eaLnBrk="0" fontAlgn="base" hangingPunct="0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4pPr>
      <a:lvl5pPr marL="1141413" indent="-227013" algn="l" defTabSz="1006475" rtl="0" eaLnBrk="0" fontAlgn="base" hangingPunct="0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5pPr>
      <a:lvl6pPr marL="1598613" indent="-227013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6pPr>
      <a:lvl7pPr marL="2055813" indent="-227013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7pPr>
      <a:lvl8pPr marL="2513013" indent="-227013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8pPr>
      <a:lvl9pPr marL="2970213" indent="-227013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7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PAGE HEADING">
            <a:extLst>
              <a:ext uri="{FF2B5EF4-FFF2-40B4-BE49-F238E27FC236}">
                <a16:creationId xmlns:a16="http://schemas.microsoft.com/office/drawing/2014/main" id="{06C597E9-A4E0-7F8A-CEBA-47BA2D3118D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4"/>
            </p:custDataLst>
          </p:nvPr>
        </p:nvSpPr>
        <p:spPr bwMode="black">
          <a:xfrm>
            <a:off x="765175" y="0"/>
            <a:ext cx="8653463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BODY TEXT">
            <a:extLst>
              <a:ext uri="{FF2B5EF4-FFF2-40B4-BE49-F238E27FC236}">
                <a16:creationId xmlns:a16="http://schemas.microsoft.com/office/drawing/2014/main" id="{C8DF7F23-1D1E-6817-5203-B04403C2998E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15"/>
            </p:custDataLst>
          </p:nvPr>
        </p:nvSpPr>
        <p:spPr bwMode="gray">
          <a:xfrm>
            <a:off x="765175" y="1681163"/>
            <a:ext cx="8623300" cy="493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2052" name="THIN BLUE LINE">
            <a:extLst>
              <a:ext uri="{FF2B5EF4-FFF2-40B4-BE49-F238E27FC236}">
                <a16:creationId xmlns:a16="http://schemas.microsoft.com/office/drawing/2014/main" id="{3A71C858-18A6-348A-ECF1-824774B44424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gray">
          <a:xfrm>
            <a:off x="771525" y="984250"/>
            <a:ext cx="864711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10437" name="PAGE NUMBER">
            <a:extLst>
              <a:ext uri="{FF2B5EF4-FFF2-40B4-BE49-F238E27FC236}">
                <a16:creationId xmlns:a16="http://schemas.microsoft.com/office/drawing/2014/main" id="{146BB642-83B5-D933-FCEF-A469E535B9C6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17"/>
            </p:custDataLst>
          </p:nvPr>
        </p:nvSpPr>
        <p:spPr bwMode="black">
          <a:xfrm>
            <a:off x="8958263" y="6872288"/>
            <a:ext cx="412750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 defTabSz="1006475" eaLnBrk="0" hangingPunct="0">
              <a:defRPr sz="700" b="0">
                <a:latin typeface="Frutiger 55 Roman" pitchFamily="34" charset="0"/>
              </a:defRPr>
            </a:lvl1pPr>
          </a:lstStyle>
          <a:p>
            <a:fld id="{49C121C6-9D11-AC4B-97F6-73EBC80BDB63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2054" name="DOCUMENT ID" hidden="1">
            <a:extLst>
              <a:ext uri="{FF2B5EF4-FFF2-40B4-BE49-F238E27FC236}">
                <a16:creationId xmlns:a16="http://schemas.microsoft.com/office/drawing/2014/main" id="{CEE6453C-D921-8745-029A-8650D350637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108200" y="423863"/>
            <a:ext cx="7313613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r>
              <a:rPr lang="en-US" altLang="zh-TW" sz="600" b="0" noProof="1">
                <a:solidFill>
                  <a:srgbClr val="FFFFFF"/>
                </a:solidFill>
                <a:latin typeface="Frutiger 55 Roman" pitchFamily="34" charset="0"/>
                <a:cs typeface="Times New Roman" panose="02020603050405020304" pitchFamily="18" charset="0"/>
              </a:rPr>
              <a:t>C:\Program Files\UBS\Pres\Templates\PresPrintOnScreen.pot</a:t>
            </a:r>
            <a:endParaRPr lang="en-US" altLang="zh-TW" sz="2400" b="0" noProof="1">
              <a:solidFill>
                <a:srgbClr val="FFFFFF"/>
              </a:solidFill>
              <a:latin typeface="Frutiger 55 Roman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5" name="Picture 7" descr="urgbx1">
            <a:extLst>
              <a:ext uri="{FF2B5EF4-FFF2-40B4-BE49-F238E27FC236}">
                <a16:creationId xmlns:a16="http://schemas.microsoft.com/office/drawing/2014/main" id="{6D3BEB8A-A971-AD22-4AA2-6CA195F88E61}"/>
              </a:ext>
            </a:extLst>
          </p:cNvPr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6989763"/>
            <a:ext cx="796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88" r:id="rId2"/>
    <p:sldLayoutId id="2147483987" r:id="rId3"/>
    <p:sldLayoutId id="2147483986" r:id="rId4"/>
    <p:sldLayoutId id="2147483985" r:id="rId5"/>
    <p:sldLayoutId id="2147483984" r:id="rId6"/>
    <p:sldLayoutId id="2147483983" r:id="rId7"/>
    <p:sldLayoutId id="2147483982" r:id="rId8"/>
    <p:sldLayoutId id="2147483981" r:id="rId9"/>
    <p:sldLayoutId id="2147483980" r:id="rId10"/>
    <p:sldLayoutId id="2147483979" r:id="rId11"/>
    <p:sldLayoutId id="2147483978" r:id="rId12"/>
  </p:sldLayoutIdLst>
  <p:transition/>
  <p:hf hdr="0" ftr="0" dt="0"/>
  <p:txStyles>
    <p:titleStyle>
      <a:lvl1pPr algn="l" defTabSz="100647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j-lt"/>
          <a:ea typeface="+mj-ea"/>
          <a:cs typeface="Arial Unicode MS" panose="020B0604020202020204" pitchFamily="34" charset="-128"/>
        </a:defRPr>
      </a:lvl1pPr>
      <a:lvl2pPr algn="l" defTabSz="100647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 Unicode MS" panose="020B0604020202020204" pitchFamily="34" charset="-128"/>
        </a:defRPr>
      </a:lvl2pPr>
      <a:lvl3pPr algn="l" defTabSz="100647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 Unicode MS" panose="020B0604020202020204" pitchFamily="34" charset="-128"/>
        </a:defRPr>
      </a:lvl3pPr>
      <a:lvl4pPr algn="l" defTabSz="100647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 Unicode MS" panose="020B0604020202020204" pitchFamily="34" charset="-128"/>
        </a:defRPr>
      </a:lvl4pPr>
      <a:lvl5pPr algn="l" defTabSz="100647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 Unicode MS" panose="020B0604020202020204" pitchFamily="34" charset="-128"/>
        </a:defRPr>
      </a:lvl5pPr>
      <a:lvl6pPr marL="457200" algn="l" defTabSz="1006475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" charset="0"/>
        </a:defRPr>
      </a:lvl6pPr>
      <a:lvl7pPr marL="914400" algn="l" defTabSz="1006475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" charset="0"/>
        </a:defRPr>
      </a:lvl7pPr>
      <a:lvl8pPr marL="1371600" algn="l" defTabSz="1006475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" charset="0"/>
        </a:defRPr>
      </a:lvl8pPr>
      <a:lvl9pPr marL="1828800" algn="l" defTabSz="1006475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UBSHeadline" pitchFamily="18" charset="0"/>
          <a:ea typeface="Arial Unicode MS" pitchFamily="34" charset="-128"/>
          <a:cs typeface="Arial" charset="0"/>
        </a:defRPr>
      </a:lvl9pPr>
    </p:titleStyle>
    <p:bodyStyle>
      <a:lvl1pPr marL="228600" indent="-228600" algn="l" defTabSz="1006475" rtl="0" eaLnBrk="0" fontAlgn="base" hangingPunct="0">
        <a:spcBef>
          <a:spcPct val="65000"/>
        </a:spcBef>
        <a:spcAft>
          <a:spcPct val="0"/>
        </a:spcAft>
        <a:buClr>
          <a:schemeClr val="bg2"/>
        </a:buClr>
        <a:buFont typeface="Symbol" pitchFamily="2" charset="2"/>
        <a:buChar char="¨"/>
        <a:defRPr>
          <a:solidFill>
            <a:schemeClr val="tx1"/>
          </a:solidFill>
          <a:latin typeface="+mn-lt"/>
          <a:ea typeface="+mn-ea"/>
          <a:cs typeface="Arial Unicode MS" panose="020B0604020202020204" pitchFamily="34" charset="-128"/>
        </a:defRPr>
      </a:lvl1pPr>
      <a:lvl2pPr marL="457200" indent="-228600" algn="l" defTabSz="1006475" rtl="0" eaLnBrk="0" fontAlgn="base" hangingPunct="0">
        <a:spcBef>
          <a:spcPct val="35000"/>
        </a:spcBef>
        <a:spcAft>
          <a:spcPct val="0"/>
        </a:spcAft>
        <a:buClr>
          <a:schemeClr val="tx1"/>
        </a:buClr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Arial Unicode MS" panose="020B0604020202020204" pitchFamily="34" charset="-128"/>
        </a:defRPr>
      </a:lvl2pPr>
      <a:lvl3pPr marL="685800" indent="-228600" algn="l" defTabSz="1006475" rtl="0" eaLnBrk="0" fontAlgn="base" hangingPunct="0">
        <a:spcBef>
          <a:spcPct val="35000"/>
        </a:spcBef>
        <a:spcAft>
          <a:spcPct val="0"/>
        </a:spcAft>
        <a:buClr>
          <a:schemeClr val="tx1"/>
        </a:buClr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Arial Unicode MS" panose="020B0604020202020204" pitchFamily="34" charset="-128"/>
        </a:defRPr>
      </a:lvl3pPr>
      <a:lvl4pPr marL="914400" indent="-228600" algn="l" defTabSz="1006475" rtl="0" eaLnBrk="0" fontAlgn="base" hangingPunct="0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Arial Unicode MS" panose="020B0604020202020204" pitchFamily="34" charset="-128"/>
        </a:defRPr>
      </a:lvl4pPr>
      <a:lvl5pPr marL="1143000" indent="-228600" algn="l" defTabSz="1006475" rtl="0" eaLnBrk="0" fontAlgn="base" hangingPunct="0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Arial Unicode MS" panose="020B0604020202020204" pitchFamily="34" charset="-128"/>
        </a:defRPr>
      </a:lvl5pPr>
      <a:lvl6pPr marL="1600200" indent="-228600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971800" indent="-228600" algn="l" defTabSz="1006475" rtl="0" fontAlgn="base">
        <a:spcBef>
          <a:spcPct val="15000"/>
        </a:spcBef>
        <a:spcAft>
          <a:spcPct val="0"/>
        </a:spcAft>
        <a:buClr>
          <a:schemeClr val="tx1"/>
        </a:buClr>
        <a:buSzPct val="84000"/>
        <a:buFont typeface="Frutiger 55 Roman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VER BLUE BOX">
            <a:extLst>
              <a:ext uri="{FF2B5EF4-FFF2-40B4-BE49-F238E27FC236}">
                <a16:creationId xmlns:a16="http://schemas.microsoft.com/office/drawing/2014/main" id="{0B1D0F3E-A022-2666-5F76-3D578E1D78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366713" y="1695450"/>
            <a:ext cx="7651750" cy="2843213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927" tIns="48463" rIns="96927" bIns="48463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en-US" sz="1900" b="0">
              <a:latin typeface="Frutiger 55 Roman" pitchFamily="34" charset="0"/>
            </a:endParaRPr>
          </a:p>
        </p:txBody>
      </p:sp>
      <p:sp>
        <p:nvSpPr>
          <p:cNvPr id="5123" name="PRESENTATION TITLE">
            <a:extLst>
              <a:ext uri="{FF2B5EF4-FFF2-40B4-BE49-F238E27FC236}">
                <a16:creationId xmlns:a16="http://schemas.microsoft.com/office/drawing/2014/main" id="{0B70663A-1A7F-D36E-F807-8F2443203E24}"/>
              </a:ext>
            </a:extLst>
          </p:cNvPr>
          <p:cNvSpPr>
            <a:spLocks noGrp="1" noChangeArrowheads="1"/>
          </p:cNvSpPr>
          <p:nvPr>
            <p:ph type="ctrTitle" idx="4294967295"/>
            <p:custDataLst>
              <p:tags r:id="rId3"/>
            </p:custDataLst>
          </p:nvPr>
        </p:nvSpPr>
        <p:spPr bwMode="gray">
          <a:xfrm>
            <a:off x="752475" y="1933575"/>
            <a:ext cx="6981825" cy="1504950"/>
          </a:xfrm>
          <a:solidFill>
            <a:srgbClr val="193D85"/>
          </a:solidFill>
        </p:spPr>
        <p:txBody>
          <a:bodyPr/>
          <a:lstStyle/>
          <a:p>
            <a:pPr eaLnBrk="1" hangingPunct="1"/>
            <a:r>
              <a:rPr lang="en-US" altLang="zh-TW" sz="35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WMA IT CTO Review</a:t>
            </a:r>
          </a:p>
        </p:txBody>
      </p:sp>
      <p:sp>
        <p:nvSpPr>
          <p:cNvPr id="5124" name="CREATE DATE">
            <a:extLst>
              <a:ext uri="{FF2B5EF4-FFF2-40B4-BE49-F238E27FC236}">
                <a16:creationId xmlns:a16="http://schemas.microsoft.com/office/drawing/2014/main" id="{0AD3FEAB-EAD4-2B6A-0E09-DB38539C2A3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8350" y="6356350"/>
            <a:ext cx="35750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06838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6838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6838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6838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68388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6838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6838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6838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68388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1900" b="0">
                <a:solidFill>
                  <a:srgbClr val="000000"/>
                </a:solidFill>
                <a:latin typeface="Frutiger 55 Roman" pitchFamily="34" charset="0"/>
                <a:ea typeface="PMingLiU" panose="02020500000000000000" pitchFamily="18" charset="-120"/>
              </a:rPr>
              <a:t>September 2010</a:t>
            </a:r>
            <a:r>
              <a:rPr lang="en-US" altLang="zh-TW" sz="1900" b="0">
                <a:latin typeface="Frutiger 55 Roman" pitchFamily="34" charset="0"/>
                <a:ea typeface="PMingLiU" panose="02020500000000000000" pitchFamily="18" charset="-120"/>
              </a:rPr>
              <a:t> </a:t>
            </a:r>
          </a:p>
        </p:txBody>
      </p:sp>
      <p:sp>
        <p:nvSpPr>
          <p:cNvPr id="5125" name="PRESENTATION SUBTITLE">
            <a:extLst>
              <a:ext uri="{FF2B5EF4-FFF2-40B4-BE49-F238E27FC236}">
                <a16:creationId xmlns:a16="http://schemas.microsoft.com/office/drawing/2014/main" id="{AB02BE7A-0631-CBC3-B59F-6B480647E7D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752475" y="3814763"/>
            <a:ext cx="6985000" cy="396875"/>
          </a:xfrm>
          <a:prstGeom prst="rect">
            <a:avLst/>
          </a:prstGeom>
          <a:solidFill>
            <a:srgbClr val="193D85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zh-TW" sz="2600" b="0">
                <a:solidFill>
                  <a:srgbClr val="FFD539"/>
                </a:solidFill>
              </a:rPr>
              <a:t>Target State Architecture – Post Trade Services </a:t>
            </a:r>
          </a:p>
        </p:txBody>
      </p:sp>
      <p:sp>
        <p:nvSpPr>
          <p:cNvPr id="5126" name="Line 664">
            <a:extLst>
              <a:ext uri="{FF2B5EF4-FFF2-40B4-BE49-F238E27FC236}">
                <a16:creationId xmlns:a16="http://schemas.microsoft.com/office/drawing/2014/main" id="{BEE24597-46FF-D3DE-E910-2029B6C11A3E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white">
          <a:xfrm>
            <a:off x="752475" y="3630613"/>
            <a:ext cx="6883400" cy="15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PAGE HEADING">
            <a:extLst>
              <a:ext uri="{FF2B5EF4-FFF2-40B4-BE49-F238E27FC236}">
                <a16:creationId xmlns:a16="http://schemas.microsoft.com/office/drawing/2014/main" id="{C969C56E-1328-CFC7-BE2E-4B9AA5062A9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anose="02020500000000000000" pitchFamily="18" charset="-120"/>
              </a:rPr>
              <a:t>Agenda</a:t>
            </a:r>
          </a:p>
        </p:txBody>
      </p:sp>
      <p:sp>
        <p:nvSpPr>
          <p:cNvPr id="6147" name="BODY TEXT">
            <a:extLst>
              <a:ext uri="{FF2B5EF4-FFF2-40B4-BE49-F238E27FC236}">
                <a16:creationId xmlns:a16="http://schemas.microsoft.com/office/drawing/2014/main" id="{BC0B3BCC-7CC4-B111-D61D-53A0800F0769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 bwMode="gray">
          <a:xfrm>
            <a:off x="720725" y="1279525"/>
            <a:ext cx="5118100" cy="2838450"/>
          </a:xfrm>
        </p:spPr>
        <p:txBody>
          <a:bodyPr/>
          <a:lstStyle/>
          <a:p>
            <a:pPr eaLnBrk="1" hangingPunct="1"/>
            <a:r>
              <a:rPr lang="en-US" altLang="en-US" sz="1400">
                <a:latin typeface="Frutiger 45 Light" pitchFamily="34" charset="0"/>
              </a:rPr>
              <a:t>Overview / Recap of Analysis done to date (Arch Lead  / Dev lead)</a:t>
            </a:r>
          </a:p>
          <a:p>
            <a:pPr eaLnBrk="1" hangingPunct="1"/>
            <a:r>
              <a:rPr lang="en-US" altLang="en-US" sz="1400">
                <a:latin typeface="Frutiger 45 Light" pitchFamily="34" charset="0"/>
              </a:rPr>
              <a:t>Target State Vision / Overview (Arch Lead  / Dev lead)</a:t>
            </a:r>
          </a:p>
          <a:p>
            <a:pPr eaLnBrk="1" hangingPunct="1"/>
            <a:r>
              <a:rPr lang="en-US" altLang="en-US" sz="1400">
                <a:latin typeface="Frutiger 45 Light" pitchFamily="34" charset="0"/>
              </a:rPr>
              <a:t>Target State Options – discuss what options or decisions need to made</a:t>
            </a:r>
          </a:p>
          <a:p>
            <a:pPr eaLnBrk="1" hangingPunct="1"/>
            <a:r>
              <a:rPr lang="en-US" altLang="en-US" sz="1400">
                <a:latin typeface="Frutiger 45 Light" pitchFamily="34" charset="0"/>
              </a:rPr>
              <a:t>Impacts of the target state on other areas (Group Discussion)</a:t>
            </a:r>
          </a:p>
          <a:p>
            <a:pPr eaLnBrk="1" hangingPunct="1"/>
            <a:r>
              <a:rPr lang="en-US" altLang="en-US" sz="1400">
                <a:latin typeface="Frutiger 45 Light" pitchFamily="34" charset="0"/>
              </a:rPr>
              <a:t>Plan and Timeline</a:t>
            </a:r>
          </a:p>
          <a:p>
            <a:pPr lvl="1" eaLnBrk="1" hangingPunct="1"/>
            <a:r>
              <a:rPr lang="en-US" altLang="en-US" sz="1400">
                <a:latin typeface="Frutiger 45 Light" pitchFamily="34" charset="0"/>
              </a:rPr>
              <a:t>Plan for achieving the target state, costs and timeline</a:t>
            </a:r>
          </a:p>
          <a:p>
            <a:pPr lvl="1" eaLnBrk="1" hangingPunct="1"/>
            <a:r>
              <a:rPr lang="en-US" altLang="en-US" sz="1400">
                <a:latin typeface="Frutiger 45 Light" pitchFamily="34" charset="0"/>
              </a:rPr>
              <a:t>Impacts / Dependencies with other areas</a:t>
            </a:r>
          </a:p>
        </p:txBody>
      </p:sp>
      <p:sp>
        <p:nvSpPr>
          <p:cNvPr id="4" name="BODY TEXT">
            <a:extLst>
              <a:ext uri="{FF2B5EF4-FFF2-40B4-BE49-F238E27FC236}">
                <a16:creationId xmlns:a16="http://schemas.microsoft.com/office/drawing/2014/main" id="{07686FE6-DD4D-0CE6-7146-CB7B5991912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22300" y="4030663"/>
            <a:ext cx="5216525" cy="297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None/>
            </a:pPr>
            <a:r>
              <a:rPr lang="en-US" altLang="en-US" sz="1400">
                <a:latin typeface="Frutiger 45 Light" pitchFamily="34" charset="0"/>
                <a:cs typeface="Arial" panose="020B0604020202020204" pitchFamily="34" charset="0"/>
              </a:rPr>
              <a:t>Key Principles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Elimination of redundant functions wherever possible (e.g. holiday calendars, accrued interest)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Elimination of hard-coded business logic in favor of business process management for common business services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Eliminate batch cycles in favor of real-time event-based processing; create business events rather than journal entries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Favor front-end editing rather than post-processing corrections (eg in Bookkeeping)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Standardization of field sizes for amount type  and quantity type fields across back office systems by currency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Automate exception-based processing through workflow to enable straight through processing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Source systems should be capable of reversing their transactions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Standardization of transaction identifiers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000" b="0">
                <a:latin typeface="Frutiger 45 Light" pitchFamily="34" charset="0"/>
                <a:cs typeface="Arial" panose="020B0604020202020204" pitchFamily="34" charset="0"/>
              </a:rPr>
              <a:t>24x7 availability of transactions for Financial Advisors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endParaRPr lang="en-US" altLang="en-US" sz="1000">
              <a:latin typeface="Frutiger 45 Light" pitchFamily="34" charset="0"/>
              <a:cs typeface="Arial" panose="020B0604020202020204" pitchFamily="34" charset="0"/>
            </a:endParaRPr>
          </a:p>
        </p:txBody>
      </p:sp>
      <p:sp>
        <p:nvSpPr>
          <p:cNvPr id="5" name="BODY TEXT">
            <a:extLst>
              <a:ext uri="{FF2B5EF4-FFF2-40B4-BE49-F238E27FC236}">
                <a16:creationId xmlns:a16="http://schemas.microsoft.com/office/drawing/2014/main" id="{4EB0E4D7-1230-0077-695F-7FF2E8DF2E1D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6157913" y="1222375"/>
            <a:ext cx="3900487" cy="297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None/>
            </a:pPr>
            <a:r>
              <a:rPr lang="en-US" altLang="en-US" sz="1400">
                <a:latin typeface="Frutiger 45 Light" pitchFamily="34" charset="0"/>
                <a:cs typeface="Arial" panose="020B0604020202020204" pitchFamily="34" charset="0"/>
              </a:rPr>
              <a:t>Key Questions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400" b="0">
                <a:latin typeface="Frutiger 45 Light" pitchFamily="34" charset="0"/>
                <a:cs typeface="Arial" panose="020B0604020202020204" pitchFamily="34" charset="0"/>
              </a:rPr>
              <a:t>What is the impact of outsourcing implementation option on target state for post trade services?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400" b="0">
                <a:latin typeface="Frutiger 45 Light" pitchFamily="34" charset="0"/>
                <a:cs typeface="Arial" panose="020B0604020202020204" pitchFamily="34" charset="0"/>
              </a:rPr>
              <a:t>Should there be a common clearance and settlement function or do we need separate once for Government and OTC transactions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r>
              <a:rPr lang="en-US" altLang="en-US" sz="1400" b="0">
                <a:latin typeface="Frutiger 45 Light" pitchFamily="34" charset="0"/>
                <a:cs typeface="Arial" panose="020B0604020202020204" pitchFamily="34" charset="0"/>
              </a:rPr>
              <a:t>Should we eliminate branch in account number</a:t>
            </a: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endParaRPr lang="en-US" altLang="en-US" sz="1400">
              <a:latin typeface="Frutiger 45 Light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65000"/>
              </a:spcBef>
              <a:buClr>
                <a:schemeClr val="bg2"/>
              </a:buClr>
              <a:buFont typeface="Symbol" pitchFamily="2" charset="2"/>
              <a:buChar char="¨"/>
            </a:pPr>
            <a:endParaRPr lang="en-US" altLang="en-US" sz="1400">
              <a:latin typeface="Frutiger 45 Light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IVIDER TITLE">
            <a:extLst>
              <a:ext uri="{FF2B5EF4-FFF2-40B4-BE49-F238E27FC236}">
                <a16:creationId xmlns:a16="http://schemas.microsoft.com/office/drawing/2014/main" id="{62543C4C-2AF9-AE85-EBBA-63FD87A52653}"/>
              </a:ext>
            </a:extLst>
          </p:cNvPr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>
              <a:buFont typeface="Symbol" pitchFamily="2" charset="2"/>
              <a:buNone/>
            </a:pPr>
            <a:r>
              <a:rPr lang="en-US" altLang="en-US"/>
              <a:t>Post Trade Services</a:t>
            </a:r>
          </a:p>
        </p:txBody>
      </p:sp>
      <p:sp>
        <p:nvSpPr>
          <p:cNvPr id="7171" name="PAGE NUMBER">
            <a:extLst>
              <a:ext uri="{FF2B5EF4-FFF2-40B4-BE49-F238E27FC236}">
                <a16:creationId xmlns:a16="http://schemas.microsoft.com/office/drawing/2014/main" id="{2F1D1735-6E0A-877C-D6C2-F7D3BC8FB30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9569450" y="7050088"/>
            <a:ext cx="4127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fld id="{EA2DC1DA-B79A-6346-A196-E192421D5CA8}" type="slidenum">
              <a:rPr lang="en-US" altLang="zh-TW" sz="700" b="0">
                <a:latin typeface="Frutiger 55 Roman" pitchFamily="34" charset="0"/>
              </a:rPr>
              <a:pPr algn="r"/>
              <a:t>2</a:t>
            </a:fld>
            <a:endParaRPr lang="en-US" altLang="zh-TW" sz="700" b="0">
              <a:latin typeface="Frutiger 55 Roman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1">
            <a:extLst>
              <a:ext uri="{FF2B5EF4-FFF2-40B4-BE49-F238E27FC236}">
                <a16:creationId xmlns:a16="http://schemas.microsoft.com/office/drawing/2014/main" id="{C865A32D-2801-6CE2-7F46-97E73C4F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38950"/>
            <a:ext cx="1658938" cy="704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6C43393-C9ED-3BC8-9E74-68E4A9E2B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 Trade Services – Operational Position Keeping Overview</a:t>
            </a:r>
          </a:p>
        </p:txBody>
      </p:sp>
      <p:graphicFrame>
        <p:nvGraphicFramePr>
          <p:cNvPr id="8283" name="Group 91">
            <a:extLst>
              <a:ext uri="{FF2B5EF4-FFF2-40B4-BE49-F238E27FC236}">
                <a16:creationId xmlns:a16="http://schemas.microsoft.com/office/drawing/2014/main" id="{E1EB8DE5-0D35-E4AE-BC6A-D215291B2E47}"/>
              </a:ext>
            </a:extLst>
          </p:cNvPr>
          <p:cNvGraphicFramePr>
            <a:graphicFrameLocks noGrp="1"/>
          </p:cNvGraphicFramePr>
          <p:nvPr/>
        </p:nvGraphicFramePr>
        <p:xfrm>
          <a:off x="319088" y="1093788"/>
          <a:ext cx="9202737" cy="876300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1824828035"/>
                    </a:ext>
                  </a:extLst>
                </a:gridCol>
                <a:gridCol w="7040562">
                  <a:extLst>
                    <a:ext uri="{9D8B030D-6E8A-4147-A177-3AD203B41FA5}">
                      <a16:colId xmlns:a16="http://schemas.microsoft.com/office/drawing/2014/main" val="2502705110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 marL="68263" defTabSz="1006475" eaLnBrk="0" hangingPunct="0">
                        <a:spcBef>
                          <a:spcPct val="65000"/>
                        </a:spcBef>
                        <a:buClr>
                          <a:schemeClr val="bg2"/>
                        </a:buClr>
                        <a:buFont typeface="Symbol" pitchFamily="2" charset="2"/>
                        <a:defRPr sz="16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1pPr>
                      <a:lvl2pPr marL="742950" indent="-28575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2pPr>
                      <a:lvl3pPr marL="1143000" indent="-22860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3pPr>
                      <a:lvl4pPr marL="16002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4pPr>
                      <a:lvl5pPr marL="20574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5pPr>
                      <a:lvl6pPr marL="25146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6pPr>
                      <a:lvl7pPr marL="29718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7pPr>
                      <a:lvl8pPr marL="34290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8pPr>
                      <a:lvl9pPr marL="38862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9pPr>
                    </a:lstStyle>
                    <a:p>
                      <a:pPr marL="68263" marR="0" lvl="0" indent="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Overview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166688" indent="-107950" defTabSz="1006475" eaLnBrk="0" hangingPunct="0">
                        <a:spcBef>
                          <a:spcPct val="65000"/>
                        </a:spcBef>
                        <a:buClr>
                          <a:schemeClr val="bg2"/>
                        </a:buClr>
                        <a:buFont typeface="Symbol" pitchFamily="2" charset="2"/>
                        <a:defRPr sz="16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1pPr>
                      <a:lvl2pPr marL="742950" indent="-28575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2pPr>
                      <a:lvl3pPr marL="1143000" indent="-22860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3pPr>
                      <a:lvl4pPr marL="16002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4pPr>
                      <a:lvl5pPr marL="20574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5pPr>
                      <a:lvl6pPr marL="25146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6pPr>
                      <a:lvl7pPr marL="29718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7pPr>
                      <a:lvl8pPr marL="34290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8pPr>
                      <a:lvl9pPr marL="38862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9pPr>
                    </a:lstStyle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This area covers bookkeeping, real time position and balances and other operational position and balance  keeping systems, Clearance and Settlement, Corporate Actions, ACATs,  Billing&amp;Fees Tax Reporting, Trade Booking, Margin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CBM components: 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Char char="¨"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Position Data Services::Operational Position Keeping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Char char="¨"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Post Trade Services::Trade Support, Operational Services, Reconciliation, Inventory management Services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667628"/>
                  </a:ext>
                </a:extLst>
              </a:tr>
            </a:tbl>
          </a:graphicData>
        </a:graphic>
      </p:graphicFrame>
      <p:sp>
        <p:nvSpPr>
          <p:cNvPr id="8209" name="Rectangle 66">
            <a:extLst>
              <a:ext uri="{FF2B5EF4-FFF2-40B4-BE49-F238E27FC236}">
                <a16:creationId xmlns:a16="http://schemas.microsoft.com/office/drawing/2014/main" id="{680FA6E2-D1B5-66FA-A3D1-BC4B39666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5154613"/>
            <a:ext cx="21224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solidFill>
                  <a:srgbClr val="FFFFFF"/>
                </a:solidFill>
                <a:latin typeface="Frutiger 55 Roman" pitchFamily="34" charset="0"/>
              </a:rPr>
              <a:t>Target State Requirements</a:t>
            </a:r>
            <a:endParaRPr lang="en-US" altLang="en-US" sz="1200" b="0">
              <a:latin typeface="Frutiger 55 Roman" pitchFamily="34" charset="0"/>
            </a:endParaRPr>
          </a:p>
        </p:txBody>
      </p:sp>
      <p:grpSp>
        <p:nvGrpSpPr>
          <p:cNvPr id="8281" name="Group 89">
            <a:extLst>
              <a:ext uri="{FF2B5EF4-FFF2-40B4-BE49-F238E27FC236}">
                <a16:creationId xmlns:a16="http://schemas.microsoft.com/office/drawing/2014/main" id="{D45D3D21-0710-CA6A-F2BA-4AB6381A532D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2044700"/>
            <a:ext cx="4754562" cy="5097463"/>
            <a:chOff x="201" y="1239"/>
            <a:chExt cx="2995" cy="3319"/>
          </a:xfrm>
        </p:grpSpPr>
        <p:grpSp>
          <p:nvGrpSpPr>
            <p:cNvPr id="8267" name="Group 75">
              <a:extLst>
                <a:ext uri="{FF2B5EF4-FFF2-40B4-BE49-F238E27FC236}">
                  <a16:creationId xmlns:a16="http://schemas.microsoft.com/office/drawing/2014/main" id="{F0808AE2-DC16-3C16-CAB5-0BCB94BD8D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" y="1239"/>
              <a:ext cx="2994" cy="212"/>
              <a:chOff x="174" y="1206"/>
              <a:chExt cx="2939" cy="212"/>
            </a:xfrm>
          </p:grpSpPr>
          <p:sp>
            <p:nvSpPr>
              <p:cNvPr id="8205" name="Rectangle 55">
                <a:extLst>
                  <a:ext uri="{FF2B5EF4-FFF2-40B4-BE49-F238E27FC236}">
                    <a16:creationId xmlns:a16="http://schemas.microsoft.com/office/drawing/2014/main" id="{FEFF6F52-7828-799D-E7BE-A5F279714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" y="1206"/>
                <a:ext cx="2939" cy="212"/>
              </a:xfrm>
              <a:prstGeom prst="rect">
                <a:avLst/>
              </a:prstGeom>
              <a:solidFill>
                <a:srgbClr val="193D85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206" name="Rectangle 56">
                <a:extLst>
                  <a:ext uri="{FF2B5EF4-FFF2-40B4-BE49-F238E27FC236}">
                    <a16:creationId xmlns:a16="http://schemas.microsoft.com/office/drawing/2014/main" id="{776A2EF4-5E14-FEFE-6722-ECE6F80B3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" y="1260"/>
                <a:ext cx="660" cy="1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200">
                    <a:solidFill>
                      <a:srgbClr val="FFFFFF"/>
                    </a:solidFill>
                    <a:latin typeface="Frutiger 55 Roman" pitchFamily="34" charset="0"/>
                  </a:rPr>
                  <a:t>Current State</a:t>
                </a:r>
                <a:endParaRPr lang="en-US" altLang="en-US" sz="1200" b="0">
                  <a:latin typeface="Frutiger 55 Roman" pitchFamily="34" charset="0"/>
                </a:endParaRPr>
              </a:p>
            </p:txBody>
          </p:sp>
        </p:grpSp>
        <p:grpSp>
          <p:nvGrpSpPr>
            <p:cNvPr id="8280" name="Group 88">
              <a:extLst>
                <a:ext uri="{FF2B5EF4-FFF2-40B4-BE49-F238E27FC236}">
                  <a16:creationId xmlns:a16="http://schemas.microsoft.com/office/drawing/2014/main" id="{002DCB2D-10A4-10E9-6837-FE825DCC5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" y="1450"/>
              <a:ext cx="2995" cy="3108"/>
              <a:chOff x="201" y="1450"/>
              <a:chExt cx="2995" cy="3108"/>
            </a:xfrm>
          </p:grpSpPr>
          <p:sp>
            <p:nvSpPr>
              <p:cNvPr id="8204" name="Rectangle 54">
                <a:extLst>
                  <a:ext uri="{FF2B5EF4-FFF2-40B4-BE49-F238E27FC236}">
                    <a16:creationId xmlns:a16="http://schemas.microsoft.com/office/drawing/2014/main" id="{D796058D-7687-12AB-427E-A426919A9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" y="1451"/>
                <a:ext cx="2995" cy="3107"/>
              </a:xfrm>
              <a:prstGeom prst="rect">
                <a:avLst/>
              </a:prstGeom>
              <a:noFill/>
              <a:ln w="127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5A5A5A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8279" name="Group 87">
                <a:extLst>
                  <a:ext uri="{FF2B5EF4-FFF2-40B4-BE49-F238E27FC236}">
                    <a16:creationId xmlns:a16="http://schemas.microsoft.com/office/drawing/2014/main" id="{F1F36C05-F673-E94F-88DE-88C1D0E893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" y="1450"/>
                <a:ext cx="2748" cy="3076"/>
                <a:chOff x="256" y="1450"/>
                <a:chExt cx="2748" cy="3076"/>
              </a:xfrm>
            </p:grpSpPr>
            <p:sp>
              <p:nvSpPr>
                <p:cNvPr id="8210" name="Text Box 67">
                  <a:extLst>
                    <a:ext uri="{FF2B5EF4-FFF2-40B4-BE49-F238E27FC236}">
                      <a16:creationId xmlns:a16="http://schemas.microsoft.com/office/drawing/2014/main" id="{5976E3F5-C8AD-B653-4C83-6E2188CD34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6" y="1450"/>
                  <a:ext cx="1307" cy="2927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prstShdw prst="shdw17" dist="17961" dir="2700000">
                    <a:srgbClr val="999999"/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marL="419100" indent="-4191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1pPr>
                  <a:lvl2pPr marL="876300" indent="-4191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2pPr>
                  <a:lvl3pPr marL="11430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3pPr>
                  <a:lvl4pPr marL="16002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4pPr>
                  <a:lvl5pPr marL="20574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5pPr>
                  <a:lvl6pPr marL="25146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6pPr>
                  <a:lvl7pPr marL="29718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7pPr>
                  <a:lvl8pPr marL="34290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8pPr>
                  <a:lvl9pPr marL="38862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000">
                      <a:latin typeface="Frutiger 45 Light" pitchFamily="34" charset="0"/>
                    </a:rPr>
                    <a:t>Functional Issues: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No single authoritative intraday source of real-time position and balance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Back Office systems are not multi-currency capable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Many instance of inadequate field sizes in Back Office systems</a:t>
                  </a:r>
                </a:p>
                <a:p>
                  <a:pPr lvl="1"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P&amp;S commissions</a:t>
                  </a:r>
                </a:p>
                <a:p>
                  <a:pPr lvl="1"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BK fractional shares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P&amp;S has no real-time capability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C&amp;S has many manual processes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Billing systems lack flexibility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Siloed applications, forcing manual work-arounds in order to achieve interoperability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Lack of  standardized  configurability of product handling across back-office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Lack of a uniform transaction identifier</a:t>
                  </a:r>
                  <a:endParaRPr lang="en-US" altLang="en-US" sz="1000">
                    <a:latin typeface="Frutiger 45 Light" pitchFamily="34" charset="0"/>
                  </a:endParaRPr>
                </a:p>
              </p:txBody>
            </p:sp>
            <p:sp>
              <p:nvSpPr>
                <p:cNvPr id="8211" name="Text Box 68">
                  <a:extLst>
                    <a:ext uri="{FF2B5EF4-FFF2-40B4-BE49-F238E27FC236}">
                      <a16:creationId xmlns:a16="http://schemas.microsoft.com/office/drawing/2014/main" id="{F4021B47-DED0-C286-F7FC-45BCB3EAAE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4" y="1450"/>
                  <a:ext cx="1360" cy="307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prstShdw prst="shdw17" dist="17961" dir="2700000">
                    <a:srgbClr val="999999"/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marL="152400" indent="-1524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1pPr>
                  <a:lvl2pPr marL="742950" indent="-28575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2pPr>
                  <a:lvl3pPr marL="11430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3pPr>
                  <a:lvl4pPr marL="16002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4pPr>
                  <a:lvl5pPr marL="2057400" indent="-228600" defTabSz="969963" eaLnBrk="0" hangingPunct="0"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5pPr>
                  <a:lvl6pPr marL="25146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6pPr>
                  <a:lvl7pPr marL="29718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7pPr>
                  <a:lvl8pPr marL="34290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8pPr>
                  <a:lvl9pPr marL="3886200" indent="-228600" defTabSz="9699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200" b="1">
                      <a:solidFill>
                        <a:schemeClr val="tx1"/>
                      </a:solidFill>
                      <a:latin typeface="UBSHeadline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000">
                      <a:latin typeface="Frutiger 45 Light" pitchFamily="34" charset="0"/>
                    </a:rPr>
                    <a:t>Technical Issues: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Bookkeeping outdated technology 35+ years old.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Bookkeeping contains an embedded margin function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P&amp;S has Functional redundancies with OET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C&amp;S is difficult  to maintain, due to non modular structure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No centralized margin function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Multiple non-integrated billing systems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Multiple systems to process corporate Actions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Many reconciliation systems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Hard coded business rules throughout the back office</a:t>
                  </a:r>
                </a:p>
                <a:p>
                  <a:pPr>
                    <a:spcBef>
                      <a:spcPct val="50000"/>
                    </a:spcBef>
                    <a:buFontTx/>
                    <a:buAutoNum type="arabicPeriod"/>
                  </a:pPr>
                  <a:r>
                    <a:rPr lang="en-US" altLang="en-US" sz="1000" b="0">
                      <a:latin typeface="Frutiger 45 Light" pitchFamily="34" charset="0"/>
                    </a:rPr>
                    <a:t>No standardized way to create statement descriptions for transactions</a:t>
                  </a:r>
                </a:p>
                <a:p>
                  <a:pPr>
                    <a:spcBef>
                      <a:spcPct val="50000"/>
                    </a:spcBef>
                  </a:pPr>
                  <a:endParaRPr lang="en-US" altLang="en-US" sz="1000">
                    <a:latin typeface="Frutiger 45 Light" pitchFamily="34" charset="0"/>
                  </a:endParaRPr>
                </a:p>
                <a:p>
                  <a:pPr>
                    <a:spcBef>
                      <a:spcPct val="50000"/>
                    </a:spcBef>
                    <a:buFontTx/>
                    <a:buChar char="•"/>
                  </a:pPr>
                  <a:endParaRPr lang="en-US" altLang="en-US" sz="1000">
                    <a:latin typeface="Frutiger 45 Light" pitchFamily="34" charset="0"/>
                  </a:endParaRPr>
                </a:p>
                <a:p>
                  <a:pPr>
                    <a:spcBef>
                      <a:spcPct val="50000"/>
                    </a:spcBef>
                    <a:buFontTx/>
                    <a:buChar char="•"/>
                  </a:pPr>
                  <a:endParaRPr lang="en-US" altLang="en-US" sz="1000">
                    <a:latin typeface="Frutiger 45 Light" pitchFamily="34" charset="0"/>
                  </a:endParaRPr>
                </a:p>
                <a:p>
                  <a:pPr>
                    <a:spcBef>
                      <a:spcPct val="50000"/>
                    </a:spcBef>
                    <a:buFontTx/>
                    <a:buChar char="•"/>
                  </a:pPr>
                  <a:endParaRPr lang="en-US" altLang="en-US" sz="1000">
                    <a:latin typeface="Frutiger 45 Light" pitchFamily="34" charset="0"/>
                  </a:endParaRPr>
                </a:p>
              </p:txBody>
            </p:sp>
          </p:grpSp>
        </p:grpSp>
      </p:grpSp>
      <p:grpSp>
        <p:nvGrpSpPr>
          <p:cNvPr id="8282" name="Group 90">
            <a:extLst>
              <a:ext uri="{FF2B5EF4-FFF2-40B4-BE49-F238E27FC236}">
                <a16:creationId xmlns:a16="http://schemas.microsoft.com/office/drawing/2014/main" id="{93AA0CC8-44EC-C636-A410-AE799AA64B0B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043113"/>
            <a:ext cx="4362450" cy="5099050"/>
            <a:chOff x="3250" y="1103"/>
            <a:chExt cx="2748" cy="3348"/>
          </a:xfrm>
        </p:grpSpPr>
        <p:grpSp>
          <p:nvGrpSpPr>
            <p:cNvPr id="8270" name="Group 78">
              <a:extLst>
                <a:ext uri="{FF2B5EF4-FFF2-40B4-BE49-F238E27FC236}">
                  <a16:creationId xmlns:a16="http://schemas.microsoft.com/office/drawing/2014/main" id="{6C4EFD57-B205-90F0-ECE6-BD38F01C0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0" y="1103"/>
              <a:ext cx="2748" cy="212"/>
              <a:chOff x="3250" y="797"/>
              <a:chExt cx="2640" cy="212"/>
            </a:xfrm>
          </p:grpSpPr>
          <p:sp>
            <p:nvSpPr>
              <p:cNvPr id="8221" name="Rectangle 60">
                <a:extLst>
                  <a:ext uri="{FF2B5EF4-FFF2-40B4-BE49-F238E27FC236}">
                    <a16:creationId xmlns:a16="http://schemas.microsoft.com/office/drawing/2014/main" id="{702F3B20-658A-6AF3-9FC4-F31D29825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" y="797"/>
                <a:ext cx="2640" cy="212"/>
              </a:xfrm>
              <a:prstGeom prst="rect">
                <a:avLst/>
              </a:prstGeom>
              <a:solidFill>
                <a:srgbClr val="193D85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208" name="Rectangle 64">
                <a:extLst>
                  <a:ext uri="{FF2B5EF4-FFF2-40B4-BE49-F238E27FC236}">
                    <a16:creationId xmlns:a16="http://schemas.microsoft.com/office/drawing/2014/main" id="{10CAD4FB-1D70-FB9E-A9ED-BC5D9AC41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9" y="825"/>
                <a:ext cx="783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200">
                    <a:solidFill>
                      <a:srgbClr val="FFFFFF"/>
                    </a:solidFill>
                    <a:latin typeface="Frutiger 55 Roman" pitchFamily="34" charset="0"/>
                  </a:rPr>
                  <a:t>Business Drivers</a:t>
                </a:r>
                <a:endParaRPr lang="en-US" altLang="en-US" sz="1200" b="0">
                  <a:latin typeface="Frutiger 55 Roman" pitchFamily="34" charset="0"/>
                </a:endParaRPr>
              </a:p>
            </p:txBody>
          </p:sp>
        </p:grpSp>
        <p:grpSp>
          <p:nvGrpSpPr>
            <p:cNvPr id="8271" name="Group 79">
              <a:extLst>
                <a:ext uri="{FF2B5EF4-FFF2-40B4-BE49-F238E27FC236}">
                  <a16:creationId xmlns:a16="http://schemas.microsoft.com/office/drawing/2014/main" id="{EEAC7063-0736-DF5D-BAE3-2E72E6201C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0" y="1315"/>
              <a:ext cx="2721" cy="3136"/>
              <a:chOff x="3250" y="1315"/>
              <a:chExt cx="2721" cy="3136"/>
            </a:xfrm>
          </p:grpSpPr>
          <p:sp>
            <p:nvSpPr>
              <p:cNvPr id="8220" name="Rectangle 59">
                <a:extLst>
                  <a:ext uri="{FF2B5EF4-FFF2-40B4-BE49-F238E27FC236}">
                    <a16:creationId xmlns:a16="http://schemas.microsoft.com/office/drawing/2014/main" id="{EC3A6D08-E3F5-BE9E-5A7F-959E54576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" y="1315"/>
                <a:ext cx="2721" cy="3136"/>
              </a:xfrm>
              <a:prstGeom prst="rect">
                <a:avLst/>
              </a:prstGeom>
              <a:noFill/>
              <a:ln w="12700">
                <a:solidFill>
                  <a:srgbClr val="969696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5A5A5A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>
                <a:lvl1pPr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212" name="Text Box 69">
                <a:extLst>
                  <a:ext uri="{FF2B5EF4-FFF2-40B4-BE49-F238E27FC236}">
                    <a16:creationId xmlns:a16="http://schemas.microsoft.com/office/drawing/2014/main" id="{EB25E1D0-7CC9-FB3E-C815-059995FB73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7" y="1370"/>
                <a:ext cx="2559" cy="1751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9999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228600" indent="-228600" defTabSz="969963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1pPr>
                <a:lvl2pPr marL="742950" indent="-285750" defTabSz="969963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2pPr>
                <a:lvl3pPr marL="1143000" indent="-228600" defTabSz="969963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3pPr>
                <a:lvl4pPr marL="1600200" indent="-228600" defTabSz="969963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4pPr>
                <a:lvl5pPr marL="2057400" indent="-228600" defTabSz="969963" eaLnBrk="0" hangingPunct="0"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5pPr>
                <a:lvl6pPr marL="2514600" indent="-228600" defTabSz="9699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6pPr>
                <a:lvl7pPr marL="2971800" indent="-228600" defTabSz="9699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7pPr>
                <a:lvl8pPr marL="3429000" indent="-228600" defTabSz="9699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8pPr>
                <a:lvl9pPr marL="3886200" indent="-228600" defTabSz="9699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 b="1">
                    <a:solidFill>
                      <a:schemeClr val="tx1"/>
                    </a:solidFill>
                    <a:latin typeface="UBSHeadline" pitchFamily="18" charset="0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Reduce operational risk by removing complicated outdated technology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Improved handling of fractional shares and standardize quantity and amount field sizes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Accurate real-time view of client position and balance to improve client/FA experience, reduces risks, and increases opportunities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Post Trade multi-currency capability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Reduced reliance on time consuming manual journal entries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Improved straight-thru processing capability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Removal of embedded wire code in account, due to system integration complexities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Standardization of field sizes for quantities and amounts.</a:t>
                </a:r>
              </a:p>
              <a:p>
                <a:pPr>
                  <a:spcBef>
                    <a:spcPct val="50000"/>
                  </a:spcBef>
                  <a:buFont typeface="UBSHeadline" pitchFamily="18" charset="0"/>
                  <a:buAutoNum type="arabicPeriod"/>
                </a:pPr>
                <a:r>
                  <a:rPr lang="en-US" altLang="en-US" sz="1000" b="0">
                    <a:latin typeface="Frutiger 45 Light" pitchFamily="34" charset="0"/>
                  </a:rPr>
                  <a:t>True as-of capability</a:t>
                </a:r>
                <a:endParaRPr lang="en-US" altLang="en-US" sz="1000">
                  <a:latin typeface="Frutiger 45 Light" pitchFamily="34" charset="0"/>
                </a:endParaRPr>
              </a:p>
              <a:p>
                <a:pPr>
                  <a:spcBef>
                    <a:spcPct val="50000"/>
                  </a:spcBef>
                  <a:buFontTx/>
                  <a:buAutoNum type="arabicPeriod"/>
                </a:pPr>
                <a:endParaRPr lang="en-US" altLang="en-US" sz="1000">
                  <a:latin typeface="Frutiger 45 Light" pitchFamily="34" charset="0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F46D7-6669-F583-2F7F-DB6CA4C9F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798F9A90-999A-E945-B2F5-371BC7EE644E}" type="slidenum">
              <a:rPr lang="en-US" altLang="zh-TW" sz="700" b="0">
                <a:latin typeface="Frutiger 55 Roman" pitchFamily="34" charset="0"/>
              </a:rPr>
              <a:pPr/>
              <a:t>3</a:t>
            </a:fld>
            <a:endParaRPr lang="en-US" altLang="zh-TW" sz="700" b="0">
              <a:latin typeface="Frutiger 55 Roman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1">
            <a:extLst>
              <a:ext uri="{FF2B5EF4-FFF2-40B4-BE49-F238E27FC236}">
                <a16:creationId xmlns:a16="http://schemas.microsoft.com/office/drawing/2014/main" id="{0B88FCF8-0488-6901-303B-50E5F526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38950"/>
            <a:ext cx="1658938" cy="704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B9F1811-23B5-CABE-5848-9037F930A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 Trade Services – Operational Position Keeping Overview</a:t>
            </a:r>
          </a:p>
        </p:txBody>
      </p:sp>
      <p:sp>
        <p:nvSpPr>
          <p:cNvPr id="9228" name="Rectangle 56">
            <a:extLst>
              <a:ext uri="{FF2B5EF4-FFF2-40B4-BE49-F238E27FC236}">
                <a16:creationId xmlns:a16="http://schemas.microsoft.com/office/drawing/2014/main" id="{17EC27EA-0447-9C14-868B-CA460A7D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2000250"/>
            <a:ext cx="10668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solidFill>
                  <a:srgbClr val="FFFFFF"/>
                </a:solidFill>
                <a:latin typeface="Frutiger 55 Roman" pitchFamily="34" charset="0"/>
              </a:rPr>
              <a:t>Current State</a:t>
            </a:r>
            <a:endParaRPr lang="en-US" altLang="en-US" sz="1200" b="0">
              <a:latin typeface="Frutiger 55 Roman" pitchFamily="34" charset="0"/>
            </a:endParaRPr>
          </a:p>
        </p:txBody>
      </p:sp>
      <p:grpSp>
        <p:nvGrpSpPr>
          <p:cNvPr id="9229" name="Group 61">
            <a:extLst>
              <a:ext uri="{FF2B5EF4-FFF2-40B4-BE49-F238E27FC236}">
                <a16:creationId xmlns:a16="http://schemas.microsoft.com/office/drawing/2014/main" id="{86B66E5B-1E1C-9D0D-236D-30EF066F66F2}"/>
              </a:ext>
            </a:extLst>
          </p:cNvPr>
          <p:cNvGrpSpPr>
            <a:grpSpLocks/>
          </p:cNvGrpSpPr>
          <p:nvPr/>
        </p:nvGrpSpPr>
        <p:grpSpPr bwMode="auto">
          <a:xfrm>
            <a:off x="233363" y="1957388"/>
            <a:ext cx="9245600" cy="5141912"/>
            <a:chOff x="174" y="1245"/>
            <a:chExt cx="2640" cy="1322"/>
          </a:xfrm>
        </p:grpSpPr>
        <p:sp>
          <p:nvSpPr>
            <p:cNvPr id="9241" name="Rectangle 62">
              <a:extLst>
                <a:ext uri="{FF2B5EF4-FFF2-40B4-BE49-F238E27FC236}">
                  <a16:creationId xmlns:a16="http://schemas.microsoft.com/office/drawing/2014/main" id="{49218B5D-FE7C-E5F5-9F11-540FA7C42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" y="1436"/>
              <a:ext cx="2640" cy="1131"/>
            </a:xfrm>
            <a:prstGeom prst="rect">
              <a:avLst/>
            </a:prstGeom>
            <a:noFill/>
            <a:ln w="12700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5A5A5A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42" name="Rectangle 63">
              <a:extLst>
                <a:ext uri="{FF2B5EF4-FFF2-40B4-BE49-F238E27FC236}">
                  <a16:creationId xmlns:a16="http://schemas.microsoft.com/office/drawing/2014/main" id="{9E9D9262-8E95-8F55-5DDB-F436F1FD5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" y="1245"/>
              <a:ext cx="2640" cy="196"/>
            </a:xfrm>
            <a:prstGeom prst="rect">
              <a:avLst/>
            </a:prstGeom>
            <a:solidFill>
              <a:srgbClr val="193D85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 marL="742950" indent="-2857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 marL="11430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 marL="16002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 marL="2057400" indent="-22860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9230" name="Rectangle 66">
            <a:extLst>
              <a:ext uri="{FF2B5EF4-FFF2-40B4-BE49-F238E27FC236}">
                <a16:creationId xmlns:a16="http://schemas.microsoft.com/office/drawing/2014/main" id="{C4891644-CBAC-034A-01A7-F1D5055F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087563"/>
            <a:ext cx="2122488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solidFill>
                  <a:srgbClr val="FFFFFF"/>
                </a:solidFill>
                <a:latin typeface="Frutiger 55 Roman" pitchFamily="34" charset="0"/>
              </a:rPr>
              <a:t>Target State Requirements</a:t>
            </a:r>
            <a:endParaRPr lang="en-US" altLang="en-US" sz="1200" b="0">
              <a:latin typeface="Frutiger 55 Roman" pitchFamily="34" charset="0"/>
            </a:endParaRPr>
          </a:p>
        </p:txBody>
      </p:sp>
      <p:sp>
        <p:nvSpPr>
          <p:cNvPr id="9231" name="Text Box 70">
            <a:extLst>
              <a:ext uri="{FF2B5EF4-FFF2-40B4-BE49-F238E27FC236}">
                <a16:creationId xmlns:a16="http://schemas.microsoft.com/office/drawing/2014/main" id="{C404364C-6090-6A95-828B-D46904A97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5413375"/>
            <a:ext cx="9202738" cy="1295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52400" indent="-1524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</p:txBody>
      </p:sp>
      <p:sp>
        <p:nvSpPr>
          <p:cNvPr id="9232" name="Text Box 71">
            <a:extLst>
              <a:ext uri="{FF2B5EF4-FFF2-40B4-BE49-F238E27FC236}">
                <a16:creationId xmlns:a16="http://schemas.microsoft.com/office/drawing/2014/main" id="{FF99DF1E-F93B-C933-9516-6B88F8C96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388" y="2760663"/>
            <a:ext cx="4492625" cy="37338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52400" indent="-1524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>
                <a:latin typeface="Frutiger 45 Light" pitchFamily="34" charset="0"/>
              </a:rPr>
              <a:t>Technical Requirements: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Reduce risk inherent in systems with outdated technology (C&amp;S, Bookkeeping, P&amp;S)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Rationalization of operational position and balance functions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Develop a separate margin function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Single flexible billing system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Elimination of redundant systems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Externalization of business logic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All applications need to be scalable and highly available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 b="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 b="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 b="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 b="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</p:txBody>
      </p:sp>
      <p:sp>
        <p:nvSpPr>
          <p:cNvPr id="9233" name="Text Box 72">
            <a:extLst>
              <a:ext uri="{FF2B5EF4-FFF2-40B4-BE49-F238E27FC236}">
                <a16:creationId xmlns:a16="http://schemas.microsoft.com/office/drawing/2014/main" id="{C529AB38-7011-611E-5295-8B15D6E12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2757488"/>
            <a:ext cx="4451350" cy="426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52400" indent="-1524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>
                <a:latin typeface="Frutiger 45 Light" pitchFamily="34" charset="0"/>
              </a:rPr>
              <a:t>Functional Requirements: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Multi-currency capable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Eliminate/reduce the need for journal entries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Any entry that feeds real-time balance and position doesn't need to feed bookkeeping. End of day should be the books and records.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All corrections and cancellations are made through source systems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Enhanced field sizes to support large commissions and fractional shares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Single authoritative real-time position and balance capability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Provide an implementation for all WMA sub-ledgers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Any system originating transactions should be capable of cancelling them (Eliminate GJOWs)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Parameter driven processing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Capability of doing true as-of processing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Exception processes should be workflow enabled. Back office to back office and front office to back office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000" b="0">
                <a:latin typeface="Frutiger 45 Light" pitchFamily="34" charset="0"/>
              </a:rPr>
              <a:t>Universal Account Number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endParaRPr lang="en-US" altLang="en-US" sz="1000">
              <a:latin typeface="Frutiger 45 Light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C455F0-F31C-9D59-6912-E98F33B2E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D3E2B158-EFC7-7947-86AD-EAC81DF53752}" type="slidenum">
              <a:rPr lang="en-US" altLang="zh-TW" sz="700" b="0">
                <a:latin typeface="Frutiger 55 Roman" pitchFamily="34" charset="0"/>
              </a:rPr>
              <a:pPr/>
              <a:t>4</a:t>
            </a:fld>
            <a:endParaRPr lang="en-US" altLang="zh-TW" sz="700" b="0">
              <a:latin typeface="Frutiger 55 Roman" pitchFamily="34" charset="0"/>
            </a:endParaRPr>
          </a:p>
        </p:txBody>
      </p:sp>
      <p:graphicFrame>
        <p:nvGraphicFramePr>
          <p:cNvPr id="9244" name="Group 28">
            <a:extLst>
              <a:ext uri="{FF2B5EF4-FFF2-40B4-BE49-F238E27FC236}">
                <a16:creationId xmlns:a16="http://schemas.microsoft.com/office/drawing/2014/main" id="{0A43ABDD-4370-F7ED-A37D-A8CE91443EA4}"/>
              </a:ext>
            </a:extLst>
          </p:cNvPr>
          <p:cNvGraphicFramePr>
            <a:graphicFrameLocks noGrp="1"/>
          </p:cNvGraphicFramePr>
          <p:nvPr/>
        </p:nvGraphicFramePr>
        <p:xfrm>
          <a:off x="233363" y="1006475"/>
          <a:ext cx="9202737" cy="908050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4281198714"/>
                    </a:ext>
                  </a:extLst>
                </a:gridCol>
                <a:gridCol w="7040562">
                  <a:extLst>
                    <a:ext uri="{9D8B030D-6E8A-4147-A177-3AD203B41FA5}">
                      <a16:colId xmlns:a16="http://schemas.microsoft.com/office/drawing/2014/main" val="671512212"/>
                    </a:ext>
                  </a:extLst>
                </a:gridCol>
              </a:tblGrid>
              <a:tr h="908050">
                <a:tc>
                  <a:txBody>
                    <a:bodyPr/>
                    <a:lstStyle>
                      <a:lvl1pPr marL="68263" defTabSz="1006475" eaLnBrk="0" hangingPunct="0">
                        <a:spcBef>
                          <a:spcPct val="65000"/>
                        </a:spcBef>
                        <a:buClr>
                          <a:schemeClr val="bg2"/>
                        </a:buClr>
                        <a:buFont typeface="Symbol" pitchFamily="2" charset="2"/>
                        <a:defRPr sz="16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1pPr>
                      <a:lvl2pPr marL="742950" indent="-28575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2pPr>
                      <a:lvl3pPr marL="1143000" indent="-22860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3pPr>
                      <a:lvl4pPr marL="16002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4pPr>
                      <a:lvl5pPr marL="20574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5pPr>
                      <a:lvl6pPr marL="25146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6pPr>
                      <a:lvl7pPr marL="29718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7pPr>
                      <a:lvl8pPr marL="34290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8pPr>
                      <a:lvl9pPr marL="38862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9pPr>
                    </a:lstStyle>
                    <a:p>
                      <a:pPr marL="68263" marR="0" lvl="0" indent="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Overview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166688" indent="-107950" defTabSz="1006475" eaLnBrk="0" hangingPunct="0">
                        <a:spcBef>
                          <a:spcPct val="65000"/>
                        </a:spcBef>
                        <a:buClr>
                          <a:schemeClr val="bg2"/>
                        </a:buClr>
                        <a:buFont typeface="Symbol" pitchFamily="2" charset="2"/>
                        <a:defRPr sz="16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1pPr>
                      <a:lvl2pPr marL="742950" indent="-28575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2pPr>
                      <a:lvl3pPr marL="1143000" indent="-228600" defTabSz="1006475" eaLnBrk="0" hangingPunct="0">
                        <a:spcBef>
                          <a:spcPct val="35000"/>
                        </a:spcBef>
                        <a:buClr>
                          <a:schemeClr val="tx1"/>
                        </a:buClr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3pPr>
                      <a:lvl4pPr marL="16002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4pPr>
                      <a:lvl5pPr marL="2057400" indent="-228600" defTabSz="1006475" eaLnBrk="0" hangingPunct="0">
                        <a:spcBef>
                          <a:spcPct val="15000"/>
                        </a:spcBef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5pPr>
                      <a:lvl6pPr marL="25146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6pPr>
                      <a:lvl7pPr marL="29718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7pPr>
                      <a:lvl8pPr marL="34290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8pPr>
                      <a:lvl9pPr marL="3886200" indent="-228600" defTabSz="1006475" eaLnBrk="0" fontAlgn="base" hangingPunct="0"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4000"/>
                        <a:buFont typeface="Frutiger 55 Roman" pitchFamily="34" charset="0"/>
                        <a:defRPr sz="1400">
                          <a:solidFill>
                            <a:schemeClr val="tx1"/>
                          </a:solidFill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defRPr>
                      </a:lvl9pPr>
                    </a:lstStyle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This area covers bookkeeping, real time position and balances and other operational position and balance  keeping systems, Clearance and Settlement, Corporate Actions, ACATs,  Billing&amp;Fees Tax Reporting, Trade Booking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None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CBM components: 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Char char="¨"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Position Data Services::Operational Position Keeping</a:t>
                      </a:r>
                    </a:p>
                    <a:p>
                      <a:pPr marL="166688" marR="0" lvl="0" indent="-107950" algn="l" defTabSz="1006475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Symbol" pitchFamily="2" charset="2"/>
                        <a:buChar char="¨"/>
                        <a:tabLst/>
                      </a:pPr>
                      <a:r>
                        <a:rPr kumimoji="0" lang="en-GB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 55 Roman" pitchFamily="34" charset="0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Post Trade Services::Trade Support, Operational Services, Reconciliation, Inventory management Services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815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CE4D687-207A-A441-BBA4-4C5B35AEF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Current State vs. Target State (Conceptual)</a:t>
            </a:r>
          </a:p>
        </p:txBody>
      </p:sp>
      <p:sp>
        <p:nvSpPr>
          <p:cNvPr id="10243" name="Rectangle 27">
            <a:extLst>
              <a:ext uri="{FF2B5EF4-FFF2-40B4-BE49-F238E27FC236}">
                <a16:creationId xmlns:a16="http://schemas.microsoft.com/office/drawing/2014/main" id="{3BFB4987-8904-2850-1601-9DA0D4976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4722813"/>
            <a:ext cx="4449763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99">
                    <a:alpha val="3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Older technology risk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Redundant processing of the same trade in silo-ed applications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Real-time Positions &amp; Balances does not contain all transactions (eg Banking) and multiple copies exist outside RPB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CPOS is not used by all systems as source for Client Positions (e.g. statements)</a:t>
            </a:r>
          </a:p>
        </p:txBody>
      </p:sp>
      <p:sp>
        <p:nvSpPr>
          <p:cNvPr id="10244" name="Rectangle 28">
            <a:extLst>
              <a:ext uri="{FF2B5EF4-FFF2-40B4-BE49-F238E27FC236}">
                <a16:creationId xmlns:a16="http://schemas.microsoft.com/office/drawing/2014/main" id="{50F05B88-2DDB-01A1-0DDA-83406379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0" y="6027738"/>
            <a:ext cx="4492625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99">
                    <a:alpha val="3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.</a:t>
            </a:r>
          </a:p>
        </p:txBody>
      </p:sp>
      <p:sp>
        <p:nvSpPr>
          <p:cNvPr id="10245" name="Text Box 30">
            <a:extLst>
              <a:ext uri="{FF2B5EF4-FFF2-40B4-BE49-F238E27FC236}">
                <a16:creationId xmlns:a16="http://schemas.microsoft.com/office/drawing/2014/main" id="{344E62A1-8F1F-F282-08D0-5FC92627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5" y="4808538"/>
            <a:ext cx="43624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Event-driven, near realtime transactions managed through a common business services layer and services orchestration for consistent one-time-only processing and shared common functions such as calculations and alerts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Data services layer to enforce "golden sources" and allow for greater flexibility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200">
                <a:solidFill>
                  <a:schemeClr val="bg2"/>
                </a:solidFill>
                <a:latin typeface="Frutiger 45 Light" pitchFamily="34" charset="0"/>
              </a:rPr>
              <a:t> Can be implemented either internally or externally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 sz="1200">
              <a:solidFill>
                <a:schemeClr val="bg2"/>
              </a:solidFill>
              <a:latin typeface="Frutiger 45 Light" pitchFamily="34" charset="0"/>
            </a:endParaRPr>
          </a:p>
        </p:txBody>
      </p:sp>
      <p:sp>
        <p:nvSpPr>
          <p:cNvPr id="10246" name="AutoShape 32">
            <a:extLst>
              <a:ext uri="{FF2B5EF4-FFF2-40B4-BE49-F238E27FC236}">
                <a16:creationId xmlns:a16="http://schemas.microsoft.com/office/drawing/2014/main" id="{105E3A5D-162F-18FF-1C61-7B7F3A3DFEC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09851" y="4075112"/>
            <a:ext cx="4665662" cy="258763"/>
          </a:xfrm>
          <a:prstGeom prst="flowChartExtract">
            <a:avLst/>
          </a:prstGeom>
          <a:solidFill>
            <a:srgbClr val="DDDDDD"/>
          </a:solidFill>
          <a:ln w="9525">
            <a:solidFill>
              <a:srgbClr val="DDDDD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68DA36-9BB2-7E22-80BA-0F0466AA5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8A99C2DD-3F77-5946-8685-1C9D2262A1C2}" type="slidenum">
              <a:rPr lang="en-US" altLang="zh-TW" sz="700" b="0">
                <a:latin typeface="Frutiger 55 Roman" pitchFamily="34" charset="0"/>
              </a:rPr>
              <a:pPr/>
              <a:t>5</a:t>
            </a:fld>
            <a:endParaRPr lang="en-US" altLang="zh-TW" sz="700" b="0">
              <a:latin typeface="Frutiger 55 Roman" pitchFamily="34" charset="0"/>
            </a:endParaRPr>
          </a:p>
        </p:txBody>
      </p:sp>
      <p:pic>
        <p:nvPicPr>
          <p:cNvPr id="10258" name="Picture 11">
            <a:extLst>
              <a:ext uri="{FF2B5EF4-FFF2-40B4-BE49-F238E27FC236}">
                <a16:creationId xmlns:a16="http://schemas.microsoft.com/office/drawing/2014/main" id="{C326673A-38DC-112E-B3CD-2F5DD35CE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238" y="1136650"/>
            <a:ext cx="3887787" cy="349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14F99"/>
                  </a:outerShdw>
                </a:effectLst>
              </a14:hiddenEffects>
            </a:ext>
          </a:extLst>
        </p:spPr>
      </p:pic>
      <p:pic>
        <p:nvPicPr>
          <p:cNvPr id="10259" name="Picture 12">
            <a:extLst>
              <a:ext uri="{FF2B5EF4-FFF2-40B4-BE49-F238E27FC236}">
                <a16:creationId xmlns:a16="http://schemas.microsoft.com/office/drawing/2014/main" id="{348D6124-CE43-A304-B4E7-40075AAE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120775"/>
            <a:ext cx="4457700" cy="364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14F99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2">
            <a:extLst>
              <a:ext uri="{FF2B5EF4-FFF2-40B4-BE49-F238E27FC236}">
                <a16:creationId xmlns:a16="http://schemas.microsoft.com/office/drawing/2014/main" id="{ACACBA32-AD3C-3EB2-C060-508B1B970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4538" y="1265238"/>
            <a:ext cx="0" cy="5918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867" name="Title 1">
            <a:extLst>
              <a:ext uri="{FF2B5EF4-FFF2-40B4-BE49-F238E27FC236}">
                <a16:creationId xmlns:a16="http://schemas.microsoft.com/office/drawing/2014/main" id="{43D15726-8606-0FA2-05D6-7E57273E362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533400" indent="-533400" defTabSz="914400" eaLnBrk="1" hangingPunct="1"/>
            <a:r>
              <a:rPr lang="en-US" altLang="en-US"/>
              <a:t>Target State Architecture Flow (Implementation Option 1)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E2A0FBA3-4E3B-C6FC-5DB2-8AF1D655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0188"/>
            <a:ext cx="1530350" cy="9636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6869" name="Group 5">
            <a:extLst>
              <a:ext uri="{FF2B5EF4-FFF2-40B4-BE49-F238E27FC236}">
                <a16:creationId xmlns:a16="http://schemas.microsoft.com/office/drawing/2014/main" id="{2EA0F1B5-8743-C7F6-BF05-08DF6AB04590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5370513"/>
            <a:ext cx="431800" cy="592137"/>
            <a:chOff x="529" y="1112"/>
            <a:chExt cx="305" cy="403"/>
          </a:xfrm>
        </p:grpSpPr>
        <p:pic>
          <p:nvPicPr>
            <p:cNvPr id="36870" name="Picture 6" descr="MC900432625[1]">
              <a:extLst>
                <a:ext uri="{FF2B5EF4-FFF2-40B4-BE49-F238E27FC236}">
                  <a16:creationId xmlns:a16="http://schemas.microsoft.com/office/drawing/2014/main" id="{800FC0CA-1014-82CD-EF47-121D2479E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" y="1112"/>
              <a:ext cx="23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1" name="Text Box 7">
              <a:extLst>
                <a:ext uri="{FF2B5EF4-FFF2-40B4-BE49-F238E27FC236}">
                  <a16:creationId xmlns:a16="http://schemas.microsoft.com/office/drawing/2014/main" id="{AB3F1687-5E65-6D65-8B9A-4525A4932E7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29" y="1369"/>
              <a:ext cx="305" cy="1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 marL="742950" indent="-28575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 marL="11430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 marL="16002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 marL="20574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800">
                  <a:latin typeface="Frutiger 45 Light" pitchFamily="34" charset="0"/>
                </a:rPr>
                <a:t>UBS FA</a:t>
              </a:r>
            </a:p>
          </p:txBody>
        </p:sp>
      </p:grpSp>
      <p:pic>
        <p:nvPicPr>
          <p:cNvPr id="36872" name="Picture 8" descr="MC900432623[1]">
            <a:extLst>
              <a:ext uri="{FF2B5EF4-FFF2-40B4-BE49-F238E27FC236}">
                <a16:creationId xmlns:a16="http://schemas.microsoft.com/office/drawing/2014/main" id="{E58810A6-632F-5304-8163-325C64148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2690813"/>
            <a:ext cx="3460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9">
            <a:extLst>
              <a:ext uri="{FF2B5EF4-FFF2-40B4-BE49-F238E27FC236}">
                <a16:creationId xmlns:a16="http://schemas.microsoft.com/office/drawing/2014/main" id="{C25EEDC3-B074-BB3B-1324-8B940660D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3468688"/>
            <a:ext cx="388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0">
            <a:extLst>
              <a:ext uri="{FF2B5EF4-FFF2-40B4-BE49-F238E27FC236}">
                <a16:creationId xmlns:a16="http://schemas.microsoft.com/office/drawing/2014/main" id="{3F95DDFC-76B0-3086-D86F-3A91645BB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6321425"/>
            <a:ext cx="388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5" name="Line 11">
            <a:extLst>
              <a:ext uri="{FF2B5EF4-FFF2-40B4-BE49-F238E27FC236}">
                <a16:creationId xmlns:a16="http://schemas.microsoft.com/office/drawing/2014/main" id="{DFD95561-94EE-CE87-9775-C0BBDB132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28860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876" name="Line 12">
            <a:extLst>
              <a:ext uri="{FF2B5EF4-FFF2-40B4-BE49-F238E27FC236}">
                <a16:creationId xmlns:a16="http://schemas.microsoft.com/office/drawing/2014/main" id="{071AFBCF-C0DD-04AF-F806-BD05CCBCC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5665788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877" name="Text Box 13">
            <a:extLst>
              <a:ext uri="{FF2B5EF4-FFF2-40B4-BE49-F238E27FC236}">
                <a16:creationId xmlns:a16="http://schemas.microsoft.com/office/drawing/2014/main" id="{01198012-E11A-2EEA-D145-8886AC777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2303463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OLS</a:t>
            </a:r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CA47E178-9F9F-DF45-1327-E5EF0DB4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340100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Mobile</a:t>
            </a:r>
          </a:p>
        </p:txBody>
      </p:sp>
      <p:sp>
        <p:nvSpPr>
          <p:cNvPr id="36879" name="Text Box 15">
            <a:extLst>
              <a:ext uri="{FF2B5EF4-FFF2-40B4-BE49-F238E27FC236}">
                <a16:creationId xmlns:a16="http://schemas.microsoft.com/office/drawing/2014/main" id="{1AD267EE-5169-6911-1BBA-E15AAAEA2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6192838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Mobile</a:t>
            </a:r>
          </a:p>
        </p:txBody>
      </p:sp>
      <p:sp>
        <p:nvSpPr>
          <p:cNvPr id="36880" name="Line 16">
            <a:extLst>
              <a:ext uri="{FF2B5EF4-FFF2-40B4-BE49-F238E27FC236}">
                <a16:creationId xmlns:a16="http://schemas.microsoft.com/office/drawing/2014/main" id="{77BC32A3-AF07-94DD-D838-A8347C13E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6075" y="1352550"/>
            <a:ext cx="0" cy="5918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822737" name="AutoShape 17">
            <a:extLst>
              <a:ext uri="{FF2B5EF4-FFF2-40B4-BE49-F238E27FC236}">
                <a16:creationId xmlns:a16="http://schemas.microsoft.com/office/drawing/2014/main" id="{F9DA2DEC-1261-C851-1323-2F111636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697038"/>
            <a:ext cx="303213" cy="5099050"/>
          </a:xfrm>
          <a:prstGeom prst="can">
            <a:avLst>
              <a:gd name="adj" fmla="val 52319"/>
            </a:avLst>
          </a:prstGeom>
          <a:gradFill rotWithShape="1">
            <a:gsLst>
              <a:gs pos="0">
                <a:schemeClr val="tx2">
                  <a:gamma/>
                  <a:shade val="39216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3921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vert="eaVert" wrap="none" lIns="0" tIns="0" rIns="0" bIns="0" anchor="ctr"/>
          <a:lstStyle/>
          <a:p>
            <a:pPr algn="ctr" defTabSz="969963" eaLnBrk="0" hangingPunct="0">
              <a:defRPr/>
            </a:pPr>
            <a:endParaRPr lang="en-US" sz="900">
              <a:solidFill>
                <a:schemeClr val="bg1"/>
              </a:solidFill>
              <a:latin typeface="Frutiger 45 Light" pitchFamily="34" charset="0"/>
            </a:endParaRPr>
          </a:p>
        </p:txBody>
      </p:sp>
      <p:sp>
        <p:nvSpPr>
          <p:cNvPr id="36882" name="Text Box 18">
            <a:extLst>
              <a:ext uri="{FF2B5EF4-FFF2-40B4-BE49-F238E27FC236}">
                <a16:creationId xmlns:a16="http://schemas.microsoft.com/office/drawing/2014/main" id="{5894D29E-24B9-F6D2-F3D1-B6A3CEA23C1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22350" y="4149725"/>
            <a:ext cx="1771650" cy="152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Services Layer</a:t>
            </a:r>
          </a:p>
        </p:txBody>
      </p:sp>
      <p:sp>
        <p:nvSpPr>
          <p:cNvPr id="1822739" name="AutoShape 19">
            <a:extLst>
              <a:ext uri="{FF2B5EF4-FFF2-40B4-BE49-F238E27FC236}">
                <a16:creationId xmlns:a16="http://schemas.microsoft.com/office/drawing/2014/main" id="{A0CEA4BC-1873-8EF4-D894-C31F1DF990F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62625" y="-73025"/>
            <a:ext cx="390525" cy="7820025"/>
          </a:xfrm>
          <a:prstGeom prst="can">
            <a:avLst>
              <a:gd name="adj" fmla="val 49227"/>
            </a:avLst>
          </a:prstGeom>
          <a:gradFill rotWithShape="1">
            <a:gsLst>
              <a:gs pos="0">
                <a:schemeClr val="tx2">
                  <a:gamma/>
                  <a:shade val="39216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3921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69963" eaLnBrk="0" hangingPunct="0">
              <a:defRPr/>
            </a:pPr>
            <a:endParaRPr lang="en-US" sz="900">
              <a:solidFill>
                <a:schemeClr val="bg1"/>
              </a:solidFill>
              <a:latin typeface="Frutiger 45 Light" pitchFamily="34" charset="0"/>
            </a:endParaRPr>
          </a:p>
        </p:txBody>
      </p:sp>
      <p:sp>
        <p:nvSpPr>
          <p:cNvPr id="36884" name="Text Box 20">
            <a:extLst>
              <a:ext uri="{FF2B5EF4-FFF2-40B4-BE49-F238E27FC236}">
                <a16:creationId xmlns:a16="http://schemas.microsoft.com/office/drawing/2014/main" id="{D0AE6973-4A32-77E9-6BCB-BD118A659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3771900"/>
            <a:ext cx="2765425" cy="152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Business Services &amp; Data  Layer</a:t>
            </a:r>
          </a:p>
        </p:txBody>
      </p:sp>
      <p:sp>
        <p:nvSpPr>
          <p:cNvPr id="36885" name="Text Box 21">
            <a:extLst>
              <a:ext uri="{FF2B5EF4-FFF2-40B4-BE49-F238E27FC236}">
                <a16:creationId xmlns:a16="http://schemas.microsoft.com/office/drawing/2014/main" id="{FBCB56BA-1DA5-5897-4FD3-9E40172E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1169988"/>
            <a:ext cx="2592387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Client Platform</a:t>
            </a:r>
          </a:p>
        </p:txBody>
      </p:sp>
      <p:sp>
        <p:nvSpPr>
          <p:cNvPr id="1822742" name="AutoShape 22">
            <a:extLst>
              <a:ext uri="{FF2B5EF4-FFF2-40B4-BE49-F238E27FC236}">
                <a16:creationId xmlns:a16="http://schemas.microsoft.com/office/drawing/2014/main" id="{EFF27027-874F-E79D-BA42-2043F3A27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1352550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/>
          <a:p>
            <a:pPr algn="ctr" defTabSz="969963" eaLnBrk="0" hangingPunct="0">
              <a:defRPr/>
            </a:pPr>
            <a:r>
              <a:rPr lang="en-US" sz="800">
                <a:latin typeface="Frutiger 45 Light" pitchFamily="34" charset="0"/>
              </a:rPr>
              <a:t>CRM</a:t>
            </a:r>
          </a:p>
        </p:txBody>
      </p:sp>
      <p:sp>
        <p:nvSpPr>
          <p:cNvPr id="1822743" name="AutoShape 23">
            <a:extLst>
              <a:ext uri="{FF2B5EF4-FFF2-40B4-BE49-F238E27FC236}">
                <a16:creationId xmlns:a16="http://schemas.microsoft.com/office/drawing/2014/main" id="{29B60C9C-DC9A-5544-77E4-3AF4172A5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1352550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/>
          <a:p>
            <a:pPr algn="ctr" defTabSz="969963" eaLnBrk="0" hangingPunct="0">
              <a:defRPr/>
            </a:pPr>
            <a:r>
              <a:rPr lang="en-US" sz="800">
                <a:latin typeface="Frutiger 45 Light" pitchFamily="34" charset="0"/>
              </a:rPr>
              <a:t>Client Reporting</a:t>
            </a:r>
          </a:p>
        </p:txBody>
      </p:sp>
      <p:sp>
        <p:nvSpPr>
          <p:cNvPr id="1822744" name="AutoShape 24">
            <a:extLst>
              <a:ext uri="{FF2B5EF4-FFF2-40B4-BE49-F238E27FC236}">
                <a16:creationId xmlns:a16="http://schemas.microsoft.com/office/drawing/2014/main" id="{0D3E8727-F6C3-9013-5907-A4593319C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1352550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endParaRPr lang="en-US" altLang="en-US" sz="800">
              <a:latin typeface="Frutiger 45 Light" pitchFamily="34" charset="0"/>
            </a:endParaRPr>
          </a:p>
        </p:txBody>
      </p:sp>
      <p:sp>
        <p:nvSpPr>
          <p:cNvPr id="36889" name="AutoShape 25">
            <a:extLst>
              <a:ext uri="{FF2B5EF4-FFF2-40B4-BE49-F238E27FC236}">
                <a16:creationId xmlns:a16="http://schemas.microsoft.com/office/drawing/2014/main" id="{D71CE6A7-6030-A381-9A31-802148B9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130425"/>
            <a:ext cx="1303338" cy="147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New CRM</a:t>
            </a:r>
          </a:p>
        </p:txBody>
      </p:sp>
      <p:sp>
        <p:nvSpPr>
          <p:cNvPr id="36890" name="AutoShape 26">
            <a:extLst>
              <a:ext uri="{FF2B5EF4-FFF2-40B4-BE49-F238E27FC236}">
                <a16:creationId xmlns:a16="http://schemas.microsoft.com/office/drawing/2014/main" id="{DD4B2873-496C-9B6C-226A-9D9E715B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25" y="2328863"/>
            <a:ext cx="1303338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Consultworks</a:t>
            </a:r>
          </a:p>
        </p:txBody>
      </p:sp>
      <p:sp>
        <p:nvSpPr>
          <p:cNvPr id="36891" name="AutoShape 27">
            <a:extLst>
              <a:ext uri="{FF2B5EF4-FFF2-40B4-BE49-F238E27FC236}">
                <a16:creationId xmlns:a16="http://schemas.microsoft.com/office/drawing/2014/main" id="{6A81CDAC-F5BE-1051-0CC0-65B900A73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692400"/>
            <a:ext cx="1254125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Account Opening</a:t>
            </a:r>
          </a:p>
        </p:txBody>
      </p:sp>
      <p:sp>
        <p:nvSpPr>
          <p:cNvPr id="36892" name="AutoShape 28">
            <a:extLst>
              <a:ext uri="{FF2B5EF4-FFF2-40B4-BE49-F238E27FC236}">
                <a16:creationId xmlns:a16="http://schemas.microsoft.com/office/drawing/2014/main" id="{58574FA7-A5B2-B941-6D5E-15767A93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908300"/>
            <a:ext cx="1254125" cy="1730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PMR</a:t>
            </a:r>
          </a:p>
        </p:txBody>
      </p:sp>
      <p:sp>
        <p:nvSpPr>
          <p:cNvPr id="36893" name="AutoShape 29">
            <a:extLst>
              <a:ext uri="{FF2B5EF4-FFF2-40B4-BE49-F238E27FC236}">
                <a16:creationId xmlns:a16="http://schemas.microsoft.com/office/drawing/2014/main" id="{1256D838-035F-E22A-6816-738DD94FA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6461125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Advisory   Services</a:t>
            </a:r>
          </a:p>
        </p:txBody>
      </p:sp>
      <p:sp>
        <p:nvSpPr>
          <p:cNvPr id="36894" name="AutoShape 30">
            <a:extLst>
              <a:ext uri="{FF2B5EF4-FFF2-40B4-BE49-F238E27FC236}">
                <a16:creationId xmlns:a16="http://schemas.microsoft.com/office/drawing/2014/main" id="{9DA27D3A-A3B6-0638-DEEF-D3E74EB90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6461125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Financial Profile Management</a:t>
            </a:r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5BFAD84E-5A54-00DD-40A8-8E17EAF40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738" y="6278563"/>
            <a:ext cx="2352675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Wealth Management Platform</a:t>
            </a:r>
          </a:p>
        </p:txBody>
      </p:sp>
      <p:sp>
        <p:nvSpPr>
          <p:cNvPr id="36896" name="AutoShape 32">
            <a:extLst>
              <a:ext uri="{FF2B5EF4-FFF2-40B4-BE49-F238E27FC236}">
                <a16:creationId xmlns:a16="http://schemas.microsoft.com/office/drawing/2014/main" id="{FCB3FFFA-CDAF-DC33-6E12-C45A179F7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6461125"/>
            <a:ext cx="628650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Research</a:t>
            </a:r>
          </a:p>
        </p:txBody>
      </p:sp>
      <p:sp>
        <p:nvSpPr>
          <p:cNvPr id="36897" name="AutoShape 33">
            <a:extLst>
              <a:ext uri="{FF2B5EF4-FFF2-40B4-BE49-F238E27FC236}">
                <a16:creationId xmlns:a16="http://schemas.microsoft.com/office/drawing/2014/main" id="{CEEA094B-B3ED-3B06-E77A-A7CE61B13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4829175"/>
            <a:ext cx="1303337" cy="147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IS Toolset</a:t>
            </a:r>
          </a:p>
        </p:txBody>
      </p:sp>
      <p:sp>
        <p:nvSpPr>
          <p:cNvPr id="36898" name="AutoShape 34">
            <a:extLst>
              <a:ext uri="{FF2B5EF4-FFF2-40B4-BE49-F238E27FC236}">
                <a16:creationId xmlns:a16="http://schemas.microsoft.com/office/drawing/2014/main" id="{8333A18F-D85B-C4CB-BA40-029A2D66C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5035550"/>
            <a:ext cx="1303337" cy="147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Envestnet</a:t>
            </a:r>
          </a:p>
        </p:txBody>
      </p:sp>
      <p:sp>
        <p:nvSpPr>
          <p:cNvPr id="36899" name="AutoShape 35">
            <a:extLst>
              <a:ext uri="{FF2B5EF4-FFF2-40B4-BE49-F238E27FC236}">
                <a16:creationId xmlns:a16="http://schemas.microsoft.com/office/drawing/2014/main" id="{DF47D7F0-D803-6B55-EAE5-35CDFCFED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5240338"/>
            <a:ext cx="1295400" cy="1730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Research</a:t>
            </a:r>
          </a:p>
        </p:txBody>
      </p:sp>
      <p:sp>
        <p:nvSpPr>
          <p:cNvPr id="36900" name="Line 36">
            <a:extLst>
              <a:ext uri="{FF2B5EF4-FFF2-40B4-BE49-F238E27FC236}">
                <a16:creationId xmlns:a16="http://schemas.microsoft.com/office/drawing/2014/main" id="{2DAC4AC4-07A2-8D40-7620-C012F3E58B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77812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1" name="Line 37">
            <a:extLst>
              <a:ext uri="{FF2B5EF4-FFF2-40B4-BE49-F238E27FC236}">
                <a16:creationId xmlns:a16="http://schemas.microsoft.com/office/drawing/2014/main" id="{1C7B1E9D-CF2E-8A18-100A-8A97025739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5188" y="48958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2" name="Line 38">
            <a:extLst>
              <a:ext uri="{FF2B5EF4-FFF2-40B4-BE49-F238E27FC236}">
                <a16:creationId xmlns:a16="http://schemas.microsoft.com/office/drawing/2014/main" id="{89BBBB3A-AFF5-AA9F-27CF-8809443DC7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0350" y="5665788"/>
            <a:ext cx="257175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3" name="Line 39">
            <a:extLst>
              <a:ext uri="{FF2B5EF4-FFF2-40B4-BE49-F238E27FC236}">
                <a16:creationId xmlns:a16="http://schemas.microsoft.com/office/drawing/2014/main" id="{C845AE04-D3E4-10F6-8894-E9DBB49B2B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1275" y="28860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4" name="Line 40">
            <a:extLst>
              <a:ext uri="{FF2B5EF4-FFF2-40B4-BE49-F238E27FC236}">
                <a16:creationId xmlns:a16="http://schemas.microsoft.com/office/drawing/2014/main" id="{C19A7818-F29E-A055-AE5C-E696513BE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2863" y="658018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5" name="Line 41">
            <a:extLst>
              <a:ext uri="{FF2B5EF4-FFF2-40B4-BE49-F238E27FC236}">
                <a16:creationId xmlns:a16="http://schemas.microsoft.com/office/drawing/2014/main" id="{5D47D398-07A6-8497-CE29-6A733BB6C7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7313" y="37290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06" name="Text Box 42">
            <a:extLst>
              <a:ext uri="{FF2B5EF4-FFF2-40B4-BE49-F238E27FC236}">
                <a16:creationId xmlns:a16="http://schemas.microsoft.com/office/drawing/2014/main" id="{3E684991-FBEC-B0F7-BC45-2B73D32DF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1169988"/>
            <a:ext cx="2592387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Order Management</a:t>
            </a:r>
          </a:p>
        </p:txBody>
      </p:sp>
      <p:sp>
        <p:nvSpPr>
          <p:cNvPr id="36907" name="AutoShape 43">
            <a:extLst>
              <a:ext uri="{FF2B5EF4-FFF2-40B4-BE49-F238E27FC236}">
                <a16:creationId xmlns:a16="http://schemas.microsoft.com/office/drawing/2014/main" id="{FAD5DA1C-4D2F-2208-D512-AAFE5D5EA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1352550"/>
            <a:ext cx="8905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Order Management</a:t>
            </a:r>
          </a:p>
        </p:txBody>
      </p:sp>
      <p:sp>
        <p:nvSpPr>
          <p:cNvPr id="36908" name="AutoShape 44">
            <a:extLst>
              <a:ext uri="{FF2B5EF4-FFF2-40B4-BE49-F238E27FC236}">
                <a16:creationId xmlns:a16="http://schemas.microsoft.com/office/drawing/2014/main" id="{5815B4DE-FF22-3325-E574-A39608955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1352550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Order Execution</a:t>
            </a:r>
          </a:p>
        </p:txBody>
      </p:sp>
      <p:sp>
        <p:nvSpPr>
          <p:cNvPr id="36909" name="AutoShape 45">
            <a:extLst>
              <a:ext uri="{FF2B5EF4-FFF2-40B4-BE49-F238E27FC236}">
                <a16:creationId xmlns:a16="http://schemas.microsoft.com/office/drawing/2014/main" id="{D290EBF9-A038-6D8B-7836-B4C2C5082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1352550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endParaRPr lang="en-US" altLang="en-US" sz="800">
              <a:latin typeface="Frutiger 45 Light" pitchFamily="34" charset="0"/>
            </a:endParaRPr>
          </a:p>
        </p:txBody>
      </p:sp>
      <p:sp>
        <p:nvSpPr>
          <p:cNvPr id="36910" name="AutoShape 46">
            <a:extLst>
              <a:ext uri="{FF2B5EF4-FFF2-40B4-BE49-F238E27FC236}">
                <a16:creationId xmlns:a16="http://schemas.microsoft.com/office/drawing/2014/main" id="{CEE2B2B6-A22D-8EBF-3AEB-B2028D27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1871663"/>
            <a:ext cx="1303338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COE</a:t>
            </a:r>
          </a:p>
        </p:txBody>
      </p:sp>
      <p:sp>
        <p:nvSpPr>
          <p:cNvPr id="36911" name="AutoShape 47">
            <a:extLst>
              <a:ext uri="{FF2B5EF4-FFF2-40B4-BE49-F238E27FC236}">
                <a16:creationId xmlns:a16="http://schemas.microsoft.com/office/drawing/2014/main" id="{D0B5C15C-EBE1-0596-4209-9972AA5DC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605088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Oscar</a:t>
            </a:r>
          </a:p>
        </p:txBody>
      </p:sp>
      <p:sp>
        <p:nvSpPr>
          <p:cNvPr id="36912" name="AutoShape 48">
            <a:extLst>
              <a:ext uri="{FF2B5EF4-FFF2-40B4-BE49-F238E27FC236}">
                <a16:creationId xmlns:a16="http://schemas.microsoft.com/office/drawing/2014/main" id="{23C4128A-F8FB-74D8-D842-F5C47AB26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303463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OLT</a:t>
            </a:r>
          </a:p>
        </p:txBody>
      </p:sp>
      <p:sp>
        <p:nvSpPr>
          <p:cNvPr id="36913" name="AutoShape 49">
            <a:extLst>
              <a:ext uri="{FF2B5EF4-FFF2-40B4-BE49-F238E27FC236}">
                <a16:creationId xmlns:a16="http://schemas.microsoft.com/office/drawing/2014/main" id="{7E45EB35-3AA2-4D92-D887-EC9779E50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647950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OET</a:t>
            </a:r>
          </a:p>
        </p:txBody>
      </p:sp>
      <p:sp>
        <p:nvSpPr>
          <p:cNvPr id="36914" name="Line 50">
            <a:extLst>
              <a:ext uri="{FF2B5EF4-FFF2-40B4-BE49-F238E27FC236}">
                <a16:creationId xmlns:a16="http://schemas.microsoft.com/office/drawing/2014/main" id="{5DA6657C-1145-CD23-8550-470AE7DAF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688" y="1222375"/>
            <a:ext cx="0" cy="2419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15" name="Text Box 51">
            <a:extLst>
              <a:ext uri="{FF2B5EF4-FFF2-40B4-BE49-F238E27FC236}">
                <a16:creationId xmlns:a16="http://schemas.microsoft.com/office/drawing/2014/main" id="{E1F2CAC9-5A6C-43BC-D43A-8D81BFC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400" y="6278563"/>
            <a:ext cx="3455988" cy="1825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Post Trade Services</a:t>
            </a:r>
          </a:p>
        </p:txBody>
      </p:sp>
      <p:sp>
        <p:nvSpPr>
          <p:cNvPr id="36916" name="AutoShape 52">
            <a:extLst>
              <a:ext uri="{FF2B5EF4-FFF2-40B4-BE49-F238E27FC236}">
                <a16:creationId xmlns:a16="http://schemas.microsoft.com/office/drawing/2014/main" id="{FFDF7B85-7B0F-A590-44A0-04DC95A50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6450013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Trade booking &amp; Enrichment</a:t>
            </a:r>
          </a:p>
        </p:txBody>
      </p:sp>
      <p:sp>
        <p:nvSpPr>
          <p:cNvPr id="36917" name="AutoShape 53">
            <a:extLst>
              <a:ext uri="{FF2B5EF4-FFF2-40B4-BE49-F238E27FC236}">
                <a16:creationId xmlns:a16="http://schemas.microsoft.com/office/drawing/2014/main" id="{694524CD-3BA4-F117-B525-BB0BC31A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6450013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Settlement</a:t>
            </a:r>
          </a:p>
        </p:txBody>
      </p:sp>
      <p:sp>
        <p:nvSpPr>
          <p:cNvPr id="36918" name="AutoShape 54">
            <a:extLst>
              <a:ext uri="{FF2B5EF4-FFF2-40B4-BE49-F238E27FC236}">
                <a16:creationId xmlns:a16="http://schemas.microsoft.com/office/drawing/2014/main" id="{B88A9DCD-DE0D-E8B1-F4A1-EF15D1512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450013"/>
            <a:ext cx="865188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Margin Management</a:t>
            </a:r>
          </a:p>
        </p:txBody>
      </p:sp>
      <p:sp>
        <p:nvSpPr>
          <p:cNvPr id="36920" name="AutoShape 56">
            <a:extLst>
              <a:ext uri="{FF2B5EF4-FFF2-40B4-BE49-F238E27FC236}">
                <a16:creationId xmlns:a16="http://schemas.microsoft.com/office/drawing/2014/main" id="{D4F08799-A1BE-7440-90D3-4058666D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2800350"/>
            <a:ext cx="733425" cy="1508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OLS</a:t>
            </a:r>
          </a:p>
        </p:txBody>
      </p:sp>
      <p:sp>
        <p:nvSpPr>
          <p:cNvPr id="36921" name="AutoShape 57">
            <a:extLst>
              <a:ext uri="{FF2B5EF4-FFF2-40B4-BE49-F238E27FC236}">
                <a16:creationId xmlns:a16="http://schemas.microsoft.com/office/drawing/2014/main" id="{034D4FC4-8D07-9E15-3621-9BFF75435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5591175"/>
            <a:ext cx="733425" cy="1508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Consultworks</a:t>
            </a:r>
          </a:p>
        </p:txBody>
      </p:sp>
      <p:sp>
        <p:nvSpPr>
          <p:cNvPr id="36922" name="Line 58">
            <a:extLst>
              <a:ext uri="{FF2B5EF4-FFF2-40B4-BE49-F238E27FC236}">
                <a16:creationId xmlns:a16="http://schemas.microsoft.com/office/drawing/2014/main" id="{D77F566B-B914-824F-139D-11F158DCE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99402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3" name="Line 59">
            <a:extLst>
              <a:ext uri="{FF2B5EF4-FFF2-40B4-BE49-F238E27FC236}">
                <a16:creationId xmlns:a16="http://schemas.microsoft.com/office/drawing/2014/main" id="{B2D27064-509C-7456-0E06-9A900B913A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389188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4" name="Line 60">
            <a:extLst>
              <a:ext uri="{FF2B5EF4-FFF2-40B4-BE49-F238E27FC236}">
                <a16:creationId xmlns:a16="http://schemas.microsoft.com/office/drawing/2014/main" id="{42A8DA4E-A3A7-1728-5119-47E621A0BA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2161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5" name="Line 61">
            <a:extLst>
              <a:ext uri="{FF2B5EF4-FFF2-40B4-BE49-F238E27FC236}">
                <a16:creationId xmlns:a16="http://schemas.microsoft.com/office/drawing/2014/main" id="{47FD2DEA-6BD3-EDED-B4B7-19E52EBD7A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5188" y="51117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6" name="Line 62">
            <a:extLst>
              <a:ext uri="{FF2B5EF4-FFF2-40B4-BE49-F238E27FC236}">
                <a16:creationId xmlns:a16="http://schemas.microsoft.com/office/drawing/2014/main" id="{D7F6C8AD-79D0-3F3B-C7D0-4ECEB1D993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276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7" name="Line 63">
            <a:extLst>
              <a:ext uri="{FF2B5EF4-FFF2-40B4-BE49-F238E27FC236}">
                <a16:creationId xmlns:a16="http://schemas.microsoft.com/office/drawing/2014/main" id="{D325A529-C251-BECC-EA5E-043E352D51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1957388"/>
            <a:ext cx="2506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928" name="AutoShape 64">
            <a:extLst>
              <a:ext uri="{FF2B5EF4-FFF2-40B4-BE49-F238E27FC236}">
                <a16:creationId xmlns:a16="http://schemas.microsoft.com/office/drawing/2014/main" id="{F759783F-E104-C519-4B52-16F8CE08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3382963"/>
            <a:ext cx="431800" cy="303212"/>
          </a:xfrm>
          <a:prstGeom prst="flowChartMagneticDisk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6929" name="AutoShape 65">
            <a:extLst>
              <a:ext uri="{FF2B5EF4-FFF2-40B4-BE49-F238E27FC236}">
                <a16:creationId xmlns:a16="http://schemas.microsoft.com/office/drawing/2014/main" id="{8154CD4B-1EB1-B59E-6B3A-3915BF878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686175"/>
            <a:ext cx="388937" cy="303213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CRDB</a:t>
            </a:r>
          </a:p>
        </p:txBody>
      </p:sp>
      <p:sp>
        <p:nvSpPr>
          <p:cNvPr id="36930" name="AutoShape 66">
            <a:extLst>
              <a:ext uri="{FF2B5EF4-FFF2-40B4-BE49-F238E27FC236}">
                <a16:creationId xmlns:a16="http://schemas.microsoft.com/office/drawing/2014/main" id="{F1CB3B3E-6E34-A619-CA13-3D780003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3686175"/>
            <a:ext cx="388938" cy="303213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MAC</a:t>
            </a:r>
          </a:p>
        </p:txBody>
      </p:sp>
      <p:cxnSp>
        <p:nvCxnSpPr>
          <p:cNvPr id="36931" name="AutoShape 67">
            <a:extLst>
              <a:ext uri="{FF2B5EF4-FFF2-40B4-BE49-F238E27FC236}">
                <a16:creationId xmlns:a16="http://schemas.microsoft.com/office/drawing/2014/main" id="{2092F765-D724-FBDA-C3C0-CFEAED0E5E9E}"/>
              </a:ext>
            </a:extLst>
          </p:cNvPr>
          <p:cNvCxnSpPr>
            <a:cxnSpLocks noChangeShapeType="1"/>
            <a:stCxn id="36910" idx="2"/>
            <a:endCxn id="36912" idx="0"/>
          </p:cNvCxnSpPr>
          <p:nvPr/>
        </p:nvCxnSpPr>
        <p:spPr bwMode="auto">
          <a:xfrm rot="5400000">
            <a:off x="5107781" y="2161382"/>
            <a:ext cx="2841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932" name="AutoShape 68">
            <a:extLst>
              <a:ext uri="{FF2B5EF4-FFF2-40B4-BE49-F238E27FC236}">
                <a16:creationId xmlns:a16="http://schemas.microsoft.com/office/drawing/2014/main" id="{BA3B7DAF-5A56-62D3-E476-37071D3C3887}"/>
              </a:ext>
            </a:extLst>
          </p:cNvPr>
          <p:cNvCxnSpPr>
            <a:cxnSpLocks noChangeShapeType="1"/>
            <a:stCxn id="36912" idx="2"/>
            <a:endCxn id="36913" idx="0"/>
          </p:cNvCxnSpPr>
          <p:nvPr/>
        </p:nvCxnSpPr>
        <p:spPr bwMode="auto">
          <a:xfrm rot="5400000">
            <a:off x="5142707" y="2540794"/>
            <a:ext cx="214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33" name="AutoShape 69">
            <a:extLst>
              <a:ext uri="{FF2B5EF4-FFF2-40B4-BE49-F238E27FC236}">
                <a16:creationId xmlns:a16="http://schemas.microsoft.com/office/drawing/2014/main" id="{6E21187B-8B03-20B2-12CD-D26E420A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185738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IB Component</a:t>
            </a:r>
          </a:p>
        </p:txBody>
      </p:sp>
      <p:cxnSp>
        <p:nvCxnSpPr>
          <p:cNvPr id="36934" name="AutoShape 70">
            <a:extLst>
              <a:ext uri="{FF2B5EF4-FFF2-40B4-BE49-F238E27FC236}">
                <a16:creationId xmlns:a16="http://schemas.microsoft.com/office/drawing/2014/main" id="{15585537-68F6-30BA-8EE2-8BAD7A616B85}"/>
              </a:ext>
            </a:extLst>
          </p:cNvPr>
          <p:cNvCxnSpPr>
            <a:cxnSpLocks noChangeShapeType="1"/>
            <a:stCxn id="36913" idx="3"/>
            <a:endCxn id="36911" idx="1"/>
          </p:cNvCxnSpPr>
          <p:nvPr/>
        </p:nvCxnSpPr>
        <p:spPr bwMode="auto">
          <a:xfrm>
            <a:off x="5767388" y="2713038"/>
            <a:ext cx="341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35" name="AutoShape 71">
            <a:extLst>
              <a:ext uri="{FF2B5EF4-FFF2-40B4-BE49-F238E27FC236}">
                <a16:creationId xmlns:a16="http://schemas.microsoft.com/office/drawing/2014/main" id="{72DA8D10-1BE7-4834-65FA-618BACDA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994025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TopCat</a:t>
            </a:r>
          </a:p>
        </p:txBody>
      </p:sp>
      <p:cxnSp>
        <p:nvCxnSpPr>
          <p:cNvPr id="36936" name="AutoShape 72">
            <a:extLst>
              <a:ext uri="{FF2B5EF4-FFF2-40B4-BE49-F238E27FC236}">
                <a16:creationId xmlns:a16="http://schemas.microsoft.com/office/drawing/2014/main" id="{043E2F28-66B8-869B-7404-8B720527072A}"/>
              </a:ext>
            </a:extLst>
          </p:cNvPr>
          <p:cNvCxnSpPr>
            <a:cxnSpLocks noChangeShapeType="1"/>
            <a:stCxn id="36913" idx="2"/>
            <a:endCxn id="36935" idx="1"/>
          </p:cNvCxnSpPr>
          <p:nvPr/>
        </p:nvCxnSpPr>
        <p:spPr bwMode="auto">
          <a:xfrm rot="16200000" flipH="1">
            <a:off x="5517357" y="2510631"/>
            <a:ext cx="323850" cy="8588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37" name="AutoShape 73">
            <a:extLst>
              <a:ext uri="{FF2B5EF4-FFF2-40B4-BE49-F238E27FC236}">
                <a16:creationId xmlns:a16="http://schemas.microsoft.com/office/drawing/2014/main" id="{DC2E98AC-6968-2721-A8F1-D8708C775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3468688"/>
            <a:ext cx="388938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OET</a:t>
            </a:r>
          </a:p>
        </p:txBody>
      </p:sp>
      <p:sp>
        <p:nvSpPr>
          <p:cNvPr id="36938" name="AutoShape 74">
            <a:extLst>
              <a:ext uri="{FF2B5EF4-FFF2-40B4-BE49-F238E27FC236}">
                <a16:creationId xmlns:a16="http://schemas.microsoft.com/office/drawing/2014/main" id="{4638F7CF-5BC5-A467-8042-86070BB43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788" y="6450013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Reconciliations</a:t>
            </a:r>
          </a:p>
        </p:txBody>
      </p:sp>
      <p:sp>
        <p:nvSpPr>
          <p:cNvPr id="36939" name="Text Box 75">
            <a:extLst>
              <a:ext uri="{FF2B5EF4-FFF2-40B4-BE49-F238E27FC236}">
                <a16:creationId xmlns:a16="http://schemas.microsoft.com/office/drawing/2014/main" id="{8AC5459B-E382-3D3C-4950-D6A8C77A3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550" y="1179513"/>
            <a:ext cx="2544763" cy="1825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Positional Data Services</a:t>
            </a:r>
          </a:p>
        </p:txBody>
      </p:sp>
      <p:sp>
        <p:nvSpPr>
          <p:cNvPr id="36940" name="AutoShape 76">
            <a:extLst>
              <a:ext uri="{FF2B5EF4-FFF2-40B4-BE49-F238E27FC236}">
                <a16:creationId xmlns:a16="http://schemas.microsoft.com/office/drawing/2014/main" id="{F6181EBA-66DF-0E8A-02AC-62B256E9A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395413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Operational Position Keeping</a:t>
            </a:r>
          </a:p>
        </p:txBody>
      </p:sp>
      <p:sp>
        <p:nvSpPr>
          <p:cNvPr id="36941" name="AutoShape 77">
            <a:extLst>
              <a:ext uri="{FF2B5EF4-FFF2-40B4-BE49-F238E27FC236}">
                <a16:creationId xmlns:a16="http://schemas.microsoft.com/office/drawing/2014/main" id="{B481DAB0-FFE0-5219-C8B7-D886A96DB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95413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Valuation</a:t>
            </a:r>
          </a:p>
        </p:txBody>
      </p:sp>
      <p:sp>
        <p:nvSpPr>
          <p:cNvPr id="36942" name="AutoShape 78">
            <a:extLst>
              <a:ext uri="{FF2B5EF4-FFF2-40B4-BE49-F238E27FC236}">
                <a16:creationId xmlns:a16="http://schemas.microsoft.com/office/drawing/2014/main" id="{0430CF85-3DC3-A179-85F9-863FD26FF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0" y="1395413"/>
            <a:ext cx="865188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Ledger</a:t>
            </a:r>
          </a:p>
        </p:txBody>
      </p:sp>
      <p:sp>
        <p:nvSpPr>
          <p:cNvPr id="36943" name="AutoShape 79">
            <a:extLst>
              <a:ext uri="{FF2B5EF4-FFF2-40B4-BE49-F238E27FC236}">
                <a16:creationId xmlns:a16="http://schemas.microsoft.com/office/drawing/2014/main" id="{0714F624-B89D-C896-8671-25E73F8AC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346868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CPOS</a:t>
            </a:r>
          </a:p>
        </p:txBody>
      </p:sp>
      <p:sp>
        <p:nvSpPr>
          <p:cNvPr id="36944" name="AutoShape 80">
            <a:extLst>
              <a:ext uri="{FF2B5EF4-FFF2-40B4-BE49-F238E27FC236}">
                <a16:creationId xmlns:a16="http://schemas.microsoft.com/office/drawing/2014/main" id="{48CA4C61-92DD-9AB7-7AD6-A6A39C44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3036888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CPOS</a:t>
            </a:r>
          </a:p>
        </p:txBody>
      </p:sp>
      <p:sp>
        <p:nvSpPr>
          <p:cNvPr id="36945" name="AutoShape 81">
            <a:extLst>
              <a:ext uri="{FF2B5EF4-FFF2-40B4-BE49-F238E27FC236}">
                <a16:creationId xmlns:a16="http://schemas.microsoft.com/office/drawing/2014/main" id="{5F02BDA2-2CCF-FA90-E7C6-36529D70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2432050"/>
            <a:ext cx="1036638" cy="130175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RPB</a:t>
            </a:r>
          </a:p>
        </p:txBody>
      </p:sp>
      <p:cxnSp>
        <p:nvCxnSpPr>
          <p:cNvPr id="36946" name="AutoShape 82">
            <a:extLst>
              <a:ext uri="{FF2B5EF4-FFF2-40B4-BE49-F238E27FC236}">
                <a16:creationId xmlns:a16="http://schemas.microsoft.com/office/drawing/2014/main" id="{10197585-D554-C2C5-3B9B-2F1663C94B76}"/>
              </a:ext>
            </a:extLst>
          </p:cNvPr>
          <p:cNvCxnSpPr>
            <a:cxnSpLocks noChangeShapeType="1"/>
            <a:stCxn id="36913" idx="2"/>
            <a:endCxn id="36944" idx="2"/>
          </p:cNvCxnSpPr>
          <p:nvPr/>
        </p:nvCxnSpPr>
        <p:spPr bwMode="auto">
          <a:xfrm rot="16200000" flipH="1">
            <a:off x="6414294" y="1613694"/>
            <a:ext cx="388938" cy="2717800"/>
          </a:xfrm>
          <a:prstGeom prst="bentConnector3">
            <a:avLst>
              <a:gd name="adj1" fmla="val 158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947" name="AutoShape 83">
            <a:extLst>
              <a:ext uri="{FF2B5EF4-FFF2-40B4-BE49-F238E27FC236}">
                <a16:creationId xmlns:a16="http://schemas.microsoft.com/office/drawing/2014/main" id="{FC79FADD-221D-FF96-A713-3EB7AA003688}"/>
              </a:ext>
            </a:extLst>
          </p:cNvPr>
          <p:cNvCxnSpPr>
            <a:cxnSpLocks noChangeShapeType="1"/>
            <a:stCxn id="36935" idx="3"/>
            <a:endCxn id="36945" idx="1"/>
          </p:cNvCxnSpPr>
          <p:nvPr/>
        </p:nvCxnSpPr>
        <p:spPr bwMode="auto">
          <a:xfrm flipV="1">
            <a:off x="7240588" y="2497138"/>
            <a:ext cx="207962" cy="604837"/>
          </a:xfrm>
          <a:prstGeom prst="bentConnector3">
            <a:avLst>
              <a:gd name="adj1" fmla="val 4962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49" name="AutoShape 85">
            <a:extLst>
              <a:ext uri="{FF2B5EF4-FFF2-40B4-BE49-F238E27FC236}">
                <a16:creationId xmlns:a16="http://schemas.microsoft.com/office/drawing/2014/main" id="{25450D86-3AA5-E02A-4977-7D4AC1F0E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88" y="3036888"/>
            <a:ext cx="1036637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PMR</a:t>
            </a:r>
          </a:p>
        </p:txBody>
      </p:sp>
      <p:cxnSp>
        <p:nvCxnSpPr>
          <p:cNvPr id="36950" name="AutoShape 86">
            <a:extLst>
              <a:ext uri="{FF2B5EF4-FFF2-40B4-BE49-F238E27FC236}">
                <a16:creationId xmlns:a16="http://schemas.microsoft.com/office/drawing/2014/main" id="{1FF8B486-0525-8F3D-360F-963B073C4DD5}"/>
              </a:ext>
            </a:extLst>
          </p:cNvPr>
          <p:cNvCxnSpPr>
            <a:cxnSpLocks noChangeShapeType="1"/>
            <a:stCxn id="36935" idx="2"/>
          </p:cNvCxnSpPr>
          <p:nvPr/>
        </p:nvCxnSpPr>
        <p:spPr bwMode="auto">
          <a:xfrm rot="5400000">
            <a:off x="6157119" y="3728244"/>
            <a:ext cx="10366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51" name="AutoShape 87">
            <a:extLst>
              <a:ext uri="{FF2B5EF4-FFF2-40B4-BE49-F238E27FC236}">
                <a16:creationId xmlns:a16="http://schemas.microsoft.com/office/drawing/2014/main" id="{33E34194-3460-2B9F-9EB5-E9E2143A5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46868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PRDB</a:t>
            </a:r>
          </a:p>
        </p:txBody>
      </p:sp>
      <p:sp>
        <p:nvSpPr>
          <p:cNvPr id="36952" name="AutoShape 88">
            <a:extLst>
              <a:ext uri="{FF2B5EF4-FFF2-40B4-BE49-F238E27FC236}">
                <a16:creationId xmlns:a16="http://schemas.microsoft.com/office/drawing/2014/main" id="{1886CFBF-6A9F-1A64-4A58-0F3C0200A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444500"/>
            <a:ext cx="1122363" cy="215900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Modified/Replaced</a:t>
            </a:r>
          </a:p>
        </p:txBody>
      </p:sp>
      <p:sp>
        <p:nvSpPr>
          <p:cNvPr id="36953" name="AutoShape 89">
            <a:extLst>
              <a:ext uri="{FF2B5EF4-FFF2-40B4-BE49-F238E27FC236}">
                <a16:creationId xmlns:a16="http://schemas.microsoft.com/office/drawing/2014/main" id="{18A21FD8-51F0-1C43-7E54-4BA210E4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44500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Margin</a:t>
            </a:r>
          </a:p>
        </p:txBody>
      </p:sp>
      <p:sp>
        <p:nvSpPr>
          <p:cNvPr id="36954" name="AutoShape 90">
            <a:extLst>
              <a:ext uri="{FF2B5EF4-FFF2-40B4-BE49-F238E27FC236}">
                <a16:creationId xmlns:a16="http://schemas.microsoft.com/office/drawing/2014/main" id="{2A3F53CE-32A7-6D01-E243-AEEF6399D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6799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ACATS</a:t>
            </a:r>
          </a:p>
        </p:txBody>
      </p:sp>
      <p:sp>
        <p:nvSpPr>
          <p:cNvPr id="36956" name="AutoShape 92">
            <a:extLst>
              <a:ext uri="{FF2B5EF4-FFF2-40B4-BE49-F238E27FC236}">
                <a16:creationId xmlns:a16="http://schemas.microsoft.com/office/drawing/2014/main" id="{4B2207CA-E234-9B14-12A4-8E4632606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2432050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Gear</a:t>
            </a:r>
          </a:p>
        </p:txBody>
      </p:sp>
      <p:cxnSp>
        <p:nvCxnSpPr>
          <p:cNvPr id="36957" name="AutoShape 93">
            <a:extLst>
              <a:ext uri="{FF2B5EF4-FFF2-40B4-BE49-F238E27FC236}">
                <a16:creationId xmlns:a16="http://schemas.microsoft.com/office/drawing/2014/main" id="{C1064C87-5B58-2A89-CF8A-2917E10A917C}"/>
              </a:ext>
            </a:extLst>
          </p:cNvPr>
          <p:cNvCxnSpPr>
            <a:cxnSpLocks noChangeShapeType="1"/>
            <a:endCxn id="36956" idx="1"/>
          </p:cNvCxnSpPr>
          <p:nvPr/>
        </p:nvCxnSpPr>
        <p:spPr bwMode="auto">
          <a:xfrm>
            <a:off x="8485188" y="2497138"/>
            <a:ext cx="3032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58" name="AutoShape 94">
            <a:extLst>
              <a:ext uri="{FF2B5EF4-FFF2-40B4-BE49-F238E27FC236}">
                <a16:creationId xmlns:a16="http://schemas.microsoft.com/office/drawing/2014/main" id="{3F04D70E-5C26-BC2B-AEE8-DC112F3DA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958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Tefra</a:t>
            </a:r>
          </a:p>
        </p:txBody>
      </p:sp>
      <p:sp>
        <p:nvSpPr>
          <p:cNvPr id="36959" name="AutoShape 95">
            <a:extLst>
              <a:ext uri="{FF2B5EF4-FFF2-40B4-BE49-F238E27FC236}">
                <a16:creationId xmlns:a16="http://schemas.microsoft.com/office/drawing/2014/main" id="{F8F44D52-32C8-46A3-7B23-C7B69F3E6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1371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Poss re-use Break-recon system</a:t>
            </a:r>
          </a:p>
        </p:txBody>
      </p:sp>
      <p:sp>
        <p:nvSpPr>
          <p:cNvPr id="36960" name="AutoShape 96">
            <a:extLst>
              <a:ext uri="{FF2B5EF4-FFF2-40B4-BE49-F238E27FC236}">
                <a16:creationId xmlns:a16="http://schemas.microsoft.com/office/drawing/2014/main" id="{FA18AF4A-7003-FC0F-80D2-728E6857D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3530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P&amp;S</a:t>
            </a:r>
          </a:p>
        </p:txBody>
      </p:sp>
      <p:sp>
        <p:nvSpPr>
          <p:cNvPr id="36961" name="AutoShape 97">
            <a:extLst>
              <a:ext uri="{FF2B5EF4-FFF2-40B4-BE49-F238E27FC236}">
                <a16:creationId xmlns:a16="http://schemas.microsoft.com/office/drawing/2014/main" id="{7B860C9D-FFF3-CFD3-C686-07B0BE7BE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4333875"/>
            <a:ext cx="1036637" cy="13017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Client Statements</a:t>
            </a:r>
          </a:p>
        </p:txBody>
      </p:sp>
      <p:sp>
        <p:nvSpPr>
          <p:cNvPr id="36962" name="Line 98">
            <a:extLst>
              <a:ext uri="{FF2B5EF4-FFF2-40B4-BE49-F238E27FC236}">
                <a16:creationId xmlns:a16="http://schemas.microsoft.com/office/drawing/2014/main" id="{5176EB77-1507-1AF7-18AF-BB96465AF0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0700" y="4030663"/>
            <a:ext cx="0" cy="303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cxnSp>
        <p:nvCxnSpPr>
          <p:cNvPr id="36963" name="AutoShape 99">
            <a:extLst>
              <a:ext uri="{FF2B5EF4-FFF2-40B4-BE49-F238E27FC236}">
                <a16:creationId xmlns:a16="http://schemas.microsoft.com/office/drawing/2014/main" id="{094DFBCC-66D4-4DCE-5AD1-CCD56E8ECF7A}"/>
              </a:ext>
            </a:extLst>
          </p:cNvPr>
          <p:cNvCxnSpPr>
            <a:cxnSpLocks noChangeShapeType="1"/>
            <a:stCxn id="36945" idx="2"/>
            <a:endCxn id="36944" idx="0"/>
          </p:cNvCxnSpPr>
          <p:nvPr/>
        </p:nvCxnSpPr>
        <p:spPr bwMode="auto">
          <a:xfrm>
            <a:off x="7967663" y="2562225"/>
            <a:ext cx="0" cy="4746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964" name="AutoShape 100">
            <a:extLst>
              <a:ext uri="{FF2B5EF4-FFF2-40B4-BE49-F238E27FC236}">
                <a16:creationId xmlns:a16="http://schemas.microsoft.com/office/drawing/2014/main" id="{5FCAA3F4-9A57-ED96-C9A0-E5BBFFCEB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5689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Reg Reporting</a:t>
            </a:r>
          </a:p>
        </p:txBody>
      </p:sp>
      <p:sp>
        <p:nvSpPr>
          <p:cNvPr id="36965" name="AutoShape 101">
            <a:extLst>
              <a:ext uri="{FF2B5EF4-FFF2-40B4-BE49-F238E27FC236}">
                <a16:creationId xmlns:a16="http://schemas.microsoft.com/office/drawing/2014/main" id="{247C9AF7-B93E-2A55-0498-BA1D3B747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802313"/>
            <a:ext cx="1303338" cy="147637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Cash</a:t>
            </a:r>
          </a:p>
        </p:txBody>
      </p:sp>
      <p:sp>
        <p:nvSpPr>
          <p:cNvPr id="36968" name="Oval 1128">
            <a:extLst>
              <a:ext uri="{FF2B5EF4-FFF2-40B4-BE49-F238E27FC236}">
                <a16:creationId xmlns:a16="http://schemas.microsoft.com/office/drawing/2014/main" id="{39187F3E-B576-B12D-7BB5-97EAAE53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13" y="2087563"/>
            <a:ext cx="2782887" cy="14255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969" name="Oval 1129">
            <a:extLst>
              <a:ext uri="{FF2B5EF4-FFF2-40B4-BE49-F238E27FC236}">
                <a16:creationId xmlns:a16="http://schemas.microsoft.com/office/drawing/2014/main" id="{2AE4843E-DEAA-A004-ADD9-FF48C684F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3700"/>
            <a:ext cx="2203450" cy="19875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970" name="Text Box 1130">
            <a:extLst>
              <a:ext uri="{FF2B5EF4-FFF2-40B4-BE49-F238E27FC236}">
                <a16:creationId xmlns:a16="http://schemas.microsoft.com/office/drawing/2014/main" id="{2B7C908F-5E7C-033D-936C-BB9A57AA6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4592638"/>
            <a:ext cx="906462" cy="7016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Re-tool Core Post Trade Services</a:t>
            </a:r>
          </a:p>
        </p:txBody>
      </p:sp>
      <p:sp>
        <p:nvSpPr>
          <p:cNvPr id="36971" name="Text Box 1131">
            <a:extLst>
              <a:ext uri="{FF2B5EF4-FFF2-40B4-BE49-F238E27FC236}">
                <a16:creationId xmlns:a16="http://schemas.microsoft.com/office/drawing/2014/main" id="{4455A837-0431-B150-FCAF-D0B38C09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3" y="2519363"/>
            <a:ext cx="2246312" cy="5492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RPB is real-time ODS, includes Banking Cash Balances, Multi-currency</a:t>
            </a:r>
          </a:p>
        </p:txBody>
      </p:sp>
      <p:sp>
        <p:nvSpPr>
          <p:cNvPr id="36972" name="Text Box 1132">
            <a:extLst>
              <a:ext uri="{FF2B5EF4-FFF2-40B4-BE49-F238E27FC236}">
                <a16:creationId xmlns:a16="http://schemas.microsoft.com/office/drawing/2014/main" id="{7A72E841-CA2B-F4D7-01DF-F512E3DA4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8400" y="4160838"/>
            <a:ext cx="906463" cy="5492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Statements fed from CPOS</a:t>
            </a:r>
          </a:p>
        </p:txBody>
      </p:sp>
      <p:sp>
        <p:nvSpPr>
          <p:cNvPr id="36973" name="Text Box 1133">
            <a:extLst>
              <a:ext uri="{FF2B5EF4-FFF2-40B4-BE49-F238E27FC236}">
                <a16:creationId xmlns:a16="http://schemas.microsoft.com/office/drawing/2014/main" id="{B66D56DD-11D2-D09A-2E97-4D799CF57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641725"/>
            <a:ext cx="1512888" cy="396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CPOS for Reporting All Client Positions</a:t>
            </a:r>
          </a:p>
        </p:txBody>
      </p:sp>
      <p:sp>
        <p:nvSpPr>
          <p:cNvPr id="36974" name="AutoShape 91">
            <a:extLst>
              <a:ext uri="{FF2B5EF4-FFF2-40B4-BE49-F238E27FC236}">
                <a16:creationId xmlns:a16="http://schemas.microsoft.com/office/drawing/2014/main" id="{869B271B-14E6-EB78-6005-7408CA7A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1827213"/>
            <a:ext cx="1036638" cy="130175"/>
          </a:xfrm>
          <a:prstGeom prst="roundRect">
            <a:avLst>
              <a:gd name="adj" fmla="val 16667"/>
            </a:avLst>
          </a:prstGeom>
          <a:solidFill>
            <a:srgbClr val="FFFF00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Bookkeeping</a:t>
            </a:r>
          </a:p>
        </p:txBody>
      </p:sp>
      <p:sp>
        <p:nvSpPr>
          <p:cNvPr id="36975" name="Text Box 1135">
            <a:extLst>
              <a:ext uri="{FF2B5EF4-FFF2-40B4-BE49-F238E27FC236}">
                <a16:creationId xmlns:a16="http://schemas.microsoft.com/office/drawing/2014/main" id="{A827B248-1DA5-12B5-1019-0FFF63B49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1738313"/>
            <a:ext cx="215900" cy="3048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400">
                <a:solidFill>
                  <a:srgbClr val="FF0000"/>
                </a:solidFill>
                <a:latin typeface="Frutiger 45 Light" pitchFamily="34" charset="0"/>
              </a:rPr>
              <a:t>X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7" name="Rectangle 1133">
            <a:extLst>
              <a:ext uri="{FF2B5EF4-FFF2-40B4-BE49-F238E27FC236}">
                <a16:creationId xmlns:a16="http://schemas.microsoft.com/office/drawing/2014/main" id="{E539512C-9AA4-3078-77FF-6A241F0A1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50" y="4117975"/>
            <a:ext cx="3587750" cy="388938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prstShdw prst="shdw17" dist="17961" dir="2700000">
              <a:srgbClr val="33333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37992" name="Rectangle 1128">
            <a:extLst>
              <a:ext uri="{FF2B5EF4-FFF2-40B4-BE49-F238E27FC236}">
                <a16:creationId xmlns:a16="http://schemas.microsoft.com/office/drawing/2014/main" id="{0D2F7227-BCD6-D7EB-B5C1-DF7B19B18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0" y="401638"/>
            <a:ext cx="1209675" cy="303212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prstShdw prst="shdw17" dist="17961" dir="2700000">
              <a:srgbClr val="33333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91" name="Rectangle 1127">
            <a:extLst>
              <a:ext uri="{FF2B5EF4-FFF2-40B4-BE49-F238E27FC236}">
                <a16:creationId xmlns:a16="http://schemas.microsoft.com/office/drawing/2014/main" id="{79364379-91F7-440B-1B35-0DB361F28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88" y="2173288"/>
            <a:ext cx="1166812" cy="690562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prstShdw prst="shdw17" dist="17961" dir="2700000">
              <a:srgbClr val="33333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90" name="Rectangle 1126">
            <a:extLst>
              <a:ext uri="{FF2B5EF4-FFF2-40B4-BE49-F238E27FC236}">
                <a16:creationId xmlns:a16="http://schemas.microsoft.com/office/drawing/2014/main" id="{D3D76F38-A099-8E7A-C660-054C585C9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4117975"/>
            <a:ext cx="1944687" cy="2073275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prstShdw prst="shdw17" dist="17961" dir="2700000">
              <a:srgbClr val="33333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37890" name="Line 2">
            <a:extLst>
              <a:ext uri="{FF2B5EF4-FFF2-40B4-BE49-F238E27FC236}">
                <a16:creationId xmlns:a16="http://schemas.microsoft.com/office/drawing/2014/main" id="{9EE198E2-F325-30C7-123C-6F31AC63F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4538" y="1265238"/>
            <a:ext cx="0" cy="5918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891" name="Title 1">
            <a:extLst>
              <a:ext uri="{FF2B5EF4-FFF2-40B4-BE49-F238E27FC236}">
                <a16:creationId xmlns:a16="http://schemas.microsoft.com/office/drawing/2014/main" id="{8B4EBE54-64CA-A690-E403-156F0775E30A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marL="533400" indent="-533400" defTabSz="914400" eaLnBrk="1" hangingPunct="1"/>
            <a:r>
              <a:rPr lang="en-US" altLang="en-US"/>
              <a:t>Target State Architecture Flow (Implementation Option 2)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FC5AA907-1227-F247-AFA9-D343D3164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0188"/>
            <a:ext cx="1530350" cy="9636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7893" name="Group 5">
            <a:extLst>
              <a:ext uri="{FF2B5EF4-FFF2-40B4-BE49-F238E27FC236}">
                <a16:creationId xmlns:a16="http://schemas.microsoft.com/office/drawing/2014/main" id="{E9594E3E-02EF-DECE-BF52-1CE085B7140D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5370513"/>
            <a:ext cx="431800" cy="592137"/>
            <a:chOff x="529" y="1112"/>
            <a:chExt cx="305" cy="403"/>
          </a:xfrm>
        </p:grpSpPr>
        <p:pic>
          <p:nvPicPr>
            <p:cNvPr id="37894" name="Picture 6" descr="MC900432625[1]">
              <a:extLst>
                <a:ext uri="{FF2B5EF4-FFF2-40B4-BE49-F238E27FC236}">
                  <a16:creationId xmlns:a16="http://schemas.microsoft.com/office/drawing/2014/main" id="{0FEFA3E6-96F8-FC67-00CD-F3CB71B88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" y="1112"/>
              <a:ext cx="23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5" name="Text Box 7">
              <a:extLst>
                <a:ext uri="{FF2B5EF4-FFF2-40B4-BE49-F238E27FC236}">
                  <a16:creationId xmlns:a16="http://schemas.microsoft.com/office/drawing/2014/main" id="{10530CFF-9357-FDD6-6936-1E83955206B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29" y="1369"/>
              <a:ext cx="305" cy="1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1pPr>
              <a:lvl2pPr marL="742950" indent="-28575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2pPr>
              <a:lvl3pPr marL="11430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3pPr>
              <a:lvl4pPr marL="16002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4pPr>
              <a:lvl5pPr marL="2057400" indent="-228600" defTabSz="831850" eaLnBrk="0" hangingPunct="0"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5pPr>
              <a:lvl6pPr marL="25146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6pPr>
              <a:lvl7pPr marL="29718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7pPr>
              <a:lvl8pPr marL="34290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8pPr>
              <a:lvl9pPr marL="3886200" indent="-228600" defTabSz="83185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chemeClr val="tx1"/>
                  </a:solidFill>
                  <a:latin typeface="UBSHeadline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800">
                  <a:latin typeface="Frutiger 45 Light" pitchFamily="34" charset="0"/>
                </a:rPr>
                <a:t>UBS FA</a:t>
              </a:r>
            </a:p>
          </p:txBody>
        </p:sp>
      </p:grpSp>
      <p:pic>
        <p:nvPicPr>
          <p:cNvPr id="37896" name="Picture 8" descr="MC900432623[1]">
            <a:extLst>
              <a:ext uri="{FF2B5EF4-FFF2-40B4-BE49-F238E27FC236}">
                <a16:creationId xmlns:a16="http://schemas.microsoft.com/office/drawing/2014/main" id="{A2B6BE98-67EF-0F4C-1667-5A938EBF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2690813"/>
            <a:ext cx="3460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9">
            <a:extLst>
              <a:ext uri="{FF2B5EF4-FFF2-40B4-BE49-F238E27FC236}">
                <a16:creationId xmlns:a16="http://schemas.microsoft.com/office/drawing/2014/main" id="{D00C5613-EA35-B415-5D74-0EBD9F4C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3468688"/>
            <a:ext cx="388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10">
            <a:extLst>
              <a:ext uri="{FF2B5EF4-FFF2-40B4-BE49-F238E27FC236}">
                <a16:creationId xmlns:a16="http://schemas.microsoft.com/office/drawing/2014/main" id="{0F050603-25D2-627C-6ED3-9B0F40EAB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6321425"/>
            <a:ext cx="388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9" name="Line 11">
            <a:extLst>
              <a:ext uri="{FF2B5EF4-FFF2-40B4-BE49-F238E27FC236}">
                <a16:creationId xmlns:a16="http://schemas.microsoft.com/office/drawing/2014/main" id="{35E62588-0E65-A6E3-BC87-E1CE53AFB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28860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00" name="Line 12">
            <a:extLst>
              <a:ext uri="{FF2B5EF4-FFF2-40B4-BE49-F238E27FC236}">
                <a16:creationId xmlns:a16="http://schemas.microsoft.com/office/drawing/2014/main" id="{872007BA-E727-CB77-76F3-FA6D635FF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5665788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6421A54D-96DA-921A-7A19-14EB2844C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2303463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OLS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5D729913-E7F6-E567-C860-DEB3553E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3340100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Mobile</a:t>
            </a:r>
          </a:p>
        </p:txBody>
      </p:sp>
      <p:sp>
        <p:nvSpPr>
          <p:cNvPr id="37903" name="Text Box 15">
            <a:extLst>
              <a:ext uri="{FF2B5EF4-FFF2-40B4-BE49-F238E27FC236}">
                <a16:creationId xmlns:a16="http://schemas.microsoft.com/office/drawing/2014/main" id="{2E6E8369-B7AE-9671-E8A0-0CD8B462A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6192838"/>
            <a:ext cx="863600" cy="136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900">
                <a:latin typeface="Frutiger 45 Light" pitchFamily="34" charset="0"/>
              </a:rPr>
              <a:t>Mobile</a:t>
            </a:r>
          </a:p>
        </p:txBody>
      </p:sp>
      <p:sp>
        <p:nvSpPr>
          <p:cNvPr id="37904" name="Line 16">
            <a:extLst>
              <a:ext uri="{FF2B5EF4-FFF2-40B4-BE49-F238E27FC236}">
                <a16:creationId xmlns:a16="http://schemas.microsoft.com/office/drawing/2014/main" id="{4EB978F8-3BEC-8696-05C2-0675AEC53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6075" y="1352550"/>
            <a:ext cx="0" cy="5918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822737" name="AutoShape 17">
            <a:extLst>
              <a:ext uri="{FF2B5EF4-FFF2-40B4-BE49-F238E27FC236}">
                <a16:creationId xmlns:a16="http://schemas.microsoft.com/office/drawing/2014/main" id="{09EA1E59-23DA-36B7-5EFD-9F3B392A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1697038"/>
            <a:ext cx="303213" cy="5099050"/>
          </a:xfrm>
          <a:prstGeom prst="can">
            <a:avLst>
              <a:gd name="adj" fmla="val 52319"/>
            </a:avLst>
          </a:prstGeom>
          <a:gradFill rotWithShape="1">
            <a:gsLst>
              <a:gs pos="0">
                <a:schemeClr val="tx2">
                  <a:gamma/>
                  <a:shade val="39216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3921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vert="eaVert" wrap="none" lIns="0" tIns="0" rIns="0" bIns="0" anchor="ctr"/>
          <a:lstStyle/>
          <a:p>
            <a:pPr algn="ctr" defTabSz="969963" eaLnBrk="0" hangingPunct="0">
              <a:defRPr/>
            </a:pPr>
            <a:endParaRPr lang="en-US" sz="900">
              <a:solidFill>
                <a:schemeClr val="bg1"/>
              </a:solidFill>
              <a:latin typeface="Frutiger 45 Light" pitchFamily="34" charset="0"/>
            </a:endParaRP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DD019E7F-0BF3-9D07-2034-B132A205CCD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22350" y="4149725"/>
            <a:ext cx="1771650" cy="152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Services Layer</a:t>
            </a:r>
          </a:p>
        </p:txBody>
      </p:sp>
      <p:sp>
        <p:nvSpPr>
          <p:cNvPr id="1822739" name="AutoShape 19">
            <a:extLst>
              <a:ext uri="{FF2B5EF4-FFF2-40B4-BE49-F238E27FC236}">
                <a16:creationId xmlns:a16="http://schemas.microsoft.com/office/drawing/2014/main" id="{2106EC7E-1449-B3C5-37B7-6470551924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62625" y="-73025"/>
            <a:ext cx="390525" cy="7820025"/>
          </a:xfrm>
          <a:prstGeom prst="can">
            <a:avLst>
              <a:gd name="adj" fmla="val 49227"/>
            </a:avLst>
          </a:prstGeom>
          <a:gradFill rotWithShape="1">
            <a:gsLst>
              <a:gs pos="0">
                <a:schemeClr val="tx2">
                  <a:gamma/>
                  <a:shade val="39216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3921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969963" eaLnBrk="0" hangingPunct="0">
              <a:defRPr/>
            </a:pPr>
            <a:endParaRPr lang="en-US" sz="900">
              <a:solidFill>
                <a:schemeClr val="bg1"/>
              </a:solidFill>
              <a:latin typeface="Frutiger 45 Light" pitchFamily="34" charset="0"/>
            </a:endParaRPr>
          </a:p>
        </p:txBody>
      </p:sp>
      <p:sp>
        <p:nvSpPr>
          <p:cNvPr id="37908" name="Text Box 20">
            <a:extLst>
              <a:ext uri="{FF2B5EF4-FFF2-40B4-BE49-F238E27FC236}">
                <a16:creationId xmlns:a16="http://schemas.microsoft.com/office/drawing/2014/main" id="{6C6C7B12-44E8-02ED-4EFB-F9D3670D2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3771900"/>
            <a:ext cx="2765425" cy="1524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Business Services &amp; Data  Layer</a:t>
            </a:r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CA56C652-5902-3D37-D321-23B62691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1169988"/>
            <a:ext cx="2592387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Client Platform</a:t>
            </a:r>
          </a:p>
        </p:txBody>
      </p:sp>
      <p:sp>
        <p:nvSpPr>
          <p:cNvPr id="1822742" name="AutoShape 22">
            <a:extLst>
              <a:ext uri="{FF2B5EF4-FFF2-40B4-BE49-F238E27FC236}">
                <a16:creationId xmlns:a16="http://schemas.microsoft.com/office/drawing/2014/main" id="{6CFD403D-4618-8143-A598-69A3FD114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1352550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/>
          <a:p>
            <a:pPr algn="ctr" defTabSz="969963" eaLnBrk="0" hangingPunct="0">
              <a:defRPr/>
            </a:pPr>
            <a:r>
              <a:rPr lang="en-US" sz="800">
                <a:latin typeface="Frutiger 45 Light" pitchFamily="34" charset="0"/>
              </a:rPr>
              <a:t>CRM</a:t>
            </a:r>
          </a:p>
        </p:txBody>
      </p:sp>
      <p:sp>
        <p:nvSpPr>
          <p:cNvPr id="1822743" name="AutoShape 23">
            <a:extLst>
              <a:ext uri="{FF2B5EF4-FFF2-40B4-BE49-F238E27FC236}">
                <a16:creationId xmlns:a16="http://schemas.microsoft.com/office/drawing/2014/main" id="{C4E99252-970E-E5D0-0AAF-D455A81A1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1352550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/>
          <a:p>
            <a:pPr algn="ctr" defTabSz="969963" eaLnBrk="0" hangingPunct="0">
              <a:defRPr/>
            </a:pPr>
            <a:r>
              <a:rPr lang="en-US" sz="800">
                <a:latin typeface="Frutiger 45 Light" pitchFamily="34" charset="0"/>
              </a:rPr>
              <a:t>Client Reporting</a:t>
            </a:r>
          </a:p>
        </p:txBody>
      </p:sp>
      <p:sp>
        <p:nvSpPr>
          <p:cNvPr id="1822744" name="AutoShape 24">
            <a:extLst>
              <a:ext uri="{FF2B5EF4-FFF2-40B4-BE49-F238E27FC236}">
                <a16:creationId xmlns:a16="http://schemas.microsoft.com/office/drawing/2014/main" id="{CE69C5A5-5FFF-23DD-DBD8-7F49B9B59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1352550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08080"/>
            </a:prstShdw>
          </a:effec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endParaRPr lang="en-US" altLang="en-US" sz="800">
              <a:latin typeface="Frutiger 45 Light" pitchFamily="34" charset="0"/>
            </a:endParaRPr>
          </a:p>
        </p:txBody>
      </p:sp>
      <p:sp>
        <p:nvSpPr>
          <p:cNvPr id="37913" name="AutoShape 25">
            <a:extLst>
              <a:ext uri="{FF2B5EF4-FFF2-40B4-BE49-F238E27FC236}">
                <a16:creationId xmlns:a16="http://schemas.microsoft.com/office/drawing/2014/main" id="{BD856991-F6EA-A35B-1807-98B4592DB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130425"/>
            <a:ext cx="1303338" cy="147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New CRM</a:t>
            </a:r>
          </a:p>
        </p:txBody>
      </p:sp>
      <p:sp>
        <p:nvSpPr>
          <p:cNvPr id="37914" name="AutoShape 26">
            <a:extLst>
              <a:ext uri="{FF2B5EF4-FFF2-40B4-BE49-F238E27FC236}">
                <a16:creationId xmlns:a16="http://schemas.microsoft.com/office/drawing/2014/main" id="{BD5840CA-6221-2DCC-D303-CB73D9D71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25" y="2328863"/>
            <a:ext cx="1303338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Consultworks</a:t>
            </a:r>
          </a:p>
        </p:txBody>
      </p:sp>
      <p:sp>
        <p:nvSpPr>
          <p:cNvPr id="37915" name="AutoShape 27">
            <a:extLst>
              <a:ext uri="{FF2B5EF4-FFF2-40B4-BE49-F238E27FC236}">
                <a16:creationId xmlns:a16="http://schemas.microsoft.com/office/drawing/2014/main" id="{75350D9D-42F1-A1CB-EFC8-1B5A6752B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692400"/>
            <a:ext cx="1254125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Account Opening</a:t>
            </a:r>
          </a:p>
        </p:txBody>
      </p:sp>
      <p:sp>
        <p:nvSpPr>
          <p:cNvPr id="37916" name="AutoShape 28">
            <a:extLst>
              <a:ext uri="{FF2B5EF4-FFF2-40B4-BE49-F238E27FC236}">
                <a16:creationId xmlns:a16="http://schemas.microsoft.com/office/drawing/2014/main" id="{55C11DA9-7FD4-D9A5-0F2D-2465D77A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2908300"/>
            <a:ext cx="1254125" cy="1730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PMR</a:t>
            </a:r>
          </a:p>
        </p:txBody>
      </p:sp>
      <p:sp>
        <p:nvSpPr>
          <p:cNvPr id="37917" name="AutoShape 29">
            <a:extLst>
              <a:ext uri="{FF2B5EF4-FFF2-40B4-BE49-F238E27FC236}">
                <a16:creationId xmlns:a16="http://schemas.microsoft.com/office/drawing/2014/main" id="{26AEA490-648B-3117-4F0D-C8902513D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6461125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Advisory   Services</a:t>
            </a:r>
          </a:p>
        </p:txBody>
      </p:sp>
      <p:sp>
        <p:nvSpPr>
          <p:cNvPr id="37918" name="AutoShape 30">
            <a:extLst>
              <a:ext uri="{FF2B5EF4-FFF2-40B4-BE49-F238E27FC236}">
                <a16:creationId xmlns:a16="http://schemas.microsoft.com/office/drawing/2014/main" id="{2DCC1411-F43C-27CD-2577-180626BA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6461125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Financial Profile Management</a:t>
            </a:r>
          </a:p>
        </p:txBody>
      </p:sp>
      <p:sp>
        <p:nvSpPr>
          <p:cNvPr id="37919" name="Text Box 31">
            <a:extLst>
              <a:ext uri="{FF2B5EF4-FFF2-40B4-BE49-F238E27FC236}">
                <a16:creationId xmlns:a16="http://schemas.microsoft.com/office/drawing/2014/main" id="{F314667C-769A-3D97-557E-6716E3638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738" y="6278563"/>
            <a:ext cx="2352675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Wealth Management Platform</a:t>
            </a:r>
          </a:p>
        </p:txBody>
      </p:sp>
      <p:sp>
        <p:nvSpPr>
          <p:cNvPr id="37920" name="AutoShape 32">
            <a:extLst>
              <a:ext uri="{FF2B5EF4-FFF2-40B4-BE49-F238E27FC236}">
                <a16:creationId xmlns:a16="http://schemas.microsoft.com/office/drawing/2014/main" id="{6A2B6AC7-CE82-4628-3AB9-96AAACA20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6461125"/>
            <a:ext cx="628650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Research</a:t>
            </a:r>
          </a:p>
        </p:txBody>
      </p:sp>
      <p:sp>
        <p:nvSpPr>
          <p:cNvPr id="37921" name="AutoShape 33">
            <a:extLst>
              <a:ext uri="{FF2B5EF4-FFF2-40B4-BE49-F238E27FC236}">
                <a16:creationId xmlns:a16="http://schemas.microsoft.com/office/drawing/2014/main" id="{DF6B799C-1FE2-56C4-16C8-25F2ED63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5500688"/>
            <a:ext cx="1303337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IS Toolset</a:t>
            </a:r>
          </a:p>
        </p:txBody>
      </p:sp>
      <p:sp>
        <p:nvSpPr>
          <p:cNvPr id="37922" name="AutoShape 34">
            <a:extLst>
              <a:ext uri="{FF2B5EF4-FFF2-40B4-BE49-F238E27FC236}">
                <a16:creationId xmlns:a16="http://schemas.microsoft.com/office/drawing/2014/main" id="{F0BBF750-8E1F-3A1E-22A4-6058C0671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5707063"/>
            <a:ext cx="1303337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Envestnet</a:t>
            </a:r>
          </a:p>
        </p:txBody>
      </p:sp>
      <p:sp>
        <p:nvSpPr>
          <p:cNvPr id="37923" name="AutoShape 35">
            <a:extLst>
              <a:ext uri="{FF2B5EF4-FFF2-40B4-BE49-F238E27FC236}">
                <a16:creationId xmlns:a16="http://schemas.microsoft.com/office/drawing/2014/main" id="{2081901C-F0FB-C1B8-D8A9-3915FDCEC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5911850"/>
            <a:ext cx="1295400" cy="1730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Research</a:t>
            </a:r>
          </a:p>
        </p:txBody>
      </p:sp>
      <p:sp>
        <p:nvSpPr>
          <p:cNvPr id="37924" name="Line 36">
            <a:extLst>
              <a:ext uri="{FF2B5EF4-FFF2-40B4-BE49-F238E27FC236}">
                <a16:creationId xmlns:a16="http://schemas.microsoft.com/office/drawing/2014/main" id="{7555F12F-0058-FD0D-1B96-265F48C521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77812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25" name="Line 37">
            <a:extLst>
              <a:ext uri="{FF2B5EF4-FFF2-40B4-BE49-F238E27FC236}">
                <a16:creationId xmlns:a16="http://schemas.microsoft.com/office/drawing/2014/main" id="{B08918E3-E5E9-D223-25D2-AC5CA2149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5188" y="5567363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26" name="Line 38">
            <a:extLst>
              <a:ext uri="{FF2B5EF4-FFF2-40B4-BE49-F238E27FC236}">
                <a16:creationId xmlns:a16="http://schemas.microsoft.com/office/drawing/2014/main" id="{9A6272DE-EACC-8293-6C02-937B112C7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0350" y="5665788"/>
            <a:ext cx="257175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27" name="Line 39">
            <a:extLst>
              <a:ext uri="{FF2B5EF4-FFF2-40B4-BE49-F238E27FC236}">
                <a16:creationId xmlns:a16="http://schemas.microsoft.com/office/drawing/2014/main" id="{3E460D83-93D2-891D-7E27-123429C584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1275" y="28860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28" name="Line 40">
            <a:extLst>
              <a:ext uri="{FF2B5EF4-FFF2-40B4-BE49-F238E27FC236}">
                <a16:creationId xmlns:a16="http://schemas.microsoft.com/office/drawing/2014/main" id="{B1114D87-66F5-DF98-98DC-159D55675B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2863" y="6580188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29" name="Line 41">
            <a:extLst>
              <a:ext uri="{FF2B5EF4-FFF2-40B4-BE49-F238E27FC236}">
                <a16:creationId xmlns:a16="http://schemas.microsoft.com/office/drawing/2014/main" id="{FA349ABF-F01A-7188-1AC7-7DF2BBC9C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7313" y="37290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30" name="Text Box 42">
            <a:extLst>
              <a:ext uri="{FF2B5EF4-FFF2-40B4-BE49-F238E27FC236}">
                <a16:creationId xmlns:a16="http://schemas.microsoft.com/office/drawing/2014/main" id="{B448DEF3-CFD0-AA31-3D6F-FCBBE59EE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1169988"/>
            <a:ext cx="2592387" cy="192087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Order Management</a:t>
            </a:r>
          </a:p>
        </p:txBody>
      </p:sp>
      <p:sp>
        <p:nvSpPr>
          <p:cNvPr id="37931" name="AutoShape 43">
            <a:extLst>
              <a:ext uri="{FF2B5EF4-FFF2-40B4-BE49-F238E27FC236}">
                <a16:creationId xmlns:a16="http://schemas.microsoft.com/office/drawing/2014/main" id="{92806760-51DA-17D1-EC6C-F286922D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1352550"/>
            <a:ext cx="8905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Order Management</a:t>
            </a:r>
          </a:p>
        </p:txBody>
      </p:sp>
      <p:sp>
        <p:nvSpPr>
          <p:cNvPr id="37932" name="AutoShape 44">
            <a:extLst>
              <a:ext uri="{FF2B5EF4-FFF2-40B4-BE49-F238E27FC236}">
                <a16:creationId xmlns:a16="http://schemas.microsoft.com/office/drawing/2014/main" id="{4A88B743-7692-6FCE-FBF2-E9655EE1B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1352550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Order Execution</a:t>
            </a:r>
          </a:p>
        </p:txBody>
      </p:sp>
      <p:sp>
        <p:nvSpPr>
          <p:cNvPr id="37933" name="AutoShape 45">
            <a:extLst>
              <a:ext uri="{FF2B5EF4-FFF2-40B4-BE49-F238E27FC236}">
                <a16:creationId xmlns:a16="http://schemas.microsoft.com/office/drawing/2014/main" id="{2F34CD36-FB93-B206-FCC1-89CF29235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1352550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endParaRPr lang="en-US" altLang="en-US" sz="800">
              <a:latin typeface="Frutiger 45 Light" pitchFamily="34" charset="0"/>
            </a:endParaRPr>
          </a:p>
        </p:txBody>
      </p:sp>
      <p:sp>
        <p:nvSpPr>
          <p:cNvPr id="37934" name="AutoShape 46">
            <a:extLst>
              <a:ext uri="{FF2B5EF4-FFF2-40B4-BE49-F238E27FC236}">
                <a16:creationId xmlns:a16="http://schemas.microsoft.com/office/drawing/2014/main" id="{DBA9FC71-F7C6-B4B8-AA8B-91E17B53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1871663"/>
            <a:ext cx="1303338" cy="147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COE</a:t>
            </a:r>
          </a:p>
        </p:txBody>
      </p:sp>
      <p:sp>
        <p:nvSpPr>
          <p:cNvPr id="37935" name="AutoShape 47">
            <a:extLst>
              <a:ext uri="{FF2B5EF4-FFF2-40B4-BE49-F238E27FC236}">
                <a16:creationId xmlns:a16="http://schemas.microsoft.com/office/drawing/2014/main" id="{A61AA78B-2002-0EEB-29B4-29497FF9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605088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Oscar</a:t>
            </a:r>
          </a:p>
        </p:txBody>
      </p:sp>
      <p:sp>
        <p:nvSpPr>
          <p:cNvPr id="37936" name="AutoShape 48">
            <a:extLst>
              <a:ext uri="{FF2B5EF4-FFF2-40B4-BE49-F238E27FC236}">
                <a16:creationId xmlns:a16="http://schemas.microsoft.com/office/drawing/2014/main" id="{2B2D6196-4EF3-C956-A735-AF4C68B35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303463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OLT</a:t>
            </a:r>
          </a:p>
        </p:txBody>
      </p:sp>
      <p:sp>
        <p:nvSpPr>
          <p:cNvPr id="37937" name="AutoShape 49">
            <a:extLst>
              <a:ext uri="{FF2B5EF4-FFF2-40B4-BE49-F238E27FC236}">
                <a16:creationId xmlns:a16="http://schemas.microsoft.com/office/drawing/2014/main" id="{2F2E76AA-984B-1871-3081-48DC00AFA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647950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OET</a:t>
            </a:r>
          </a:p>
        </p:txBody>
      </p:sp>
      <p:sp>
        <p:nvSpPr>
          <p:cNvPr id="37938" name="Line 50">
            <a:extLst>
              <a:ext uri="{FF2B5EF4-FFF2-40B4-BE49-F238E27FC236}">
                <a16:creationId xmlns:a16="http://schemas.microsoft.com/office/drawing/2014/main" id="{51868861-E8DE-C72E-95A9-F61777FC8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688" y="1222375"/>
            <a:ext cx="0" cy="2419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39" name="Text Box 51">
            <a:extLst>
              <a:ext uri="{FF2B5EF4-FFF2-40B4-BE49-F238E27FC236}">
                <a16:creationId xmlns:a16="http://schemas.microsoft.com/office/drawing/2014/main" id="{6E3FE8AC-EC99-561F-38B3-29B3D96F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400" y="6278563"/>
            <a:ext cx="3455988" cy="1825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Post Trade Services</a:t>
            </a:r>
          </a:p>
        </p:txBody>
      </p:sp>
      <p:sp>
        <p:nvSpPr>
          <p:cNvPr id="37940" name="AutoShape 52">
            <a:extLst>
              <a:ext uri="{FF2B5EF4-FFF2-40B4-BE49-F238E27FC236}">
                <a16:creationId xmlns:a16="http://schemas.microsoft.com/office/drawing/2014/main" id="{C1797973-9AC9-31D7-C24F-1C828661E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6450013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Trade booking &amp; Enrichment</a:t>
            </a:r>
          </a:p>
        </p:txBody>
      </p:sp>
      <p:sp>
        <p:nvSpPr>
          <p:cNvPr id="37941" name="AutoShape 53">
            <a:extLst>
              <a:ext uri="{FF2B5EF4-FFF2-40B4-BE49-F238E27FC236}">
                <a16:creationId xmlns:a16="http://schemas.microsoft.com/office/drawing/2014/main" id="{BE4EB46C-BE69-7B2D-6B62-5AD12A38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6450013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Settlement</a:t>
            </a:r>
          </a:p>
        </p:txBody>
      </p:sp>
      <p:sp>
        <p:nvSpPr>
          <p:cNvPr id="37942" name="AutoShape 54">
            <a:extLst>
              <a:ext uri="{FF2B5EF4-FFF2-40B4-BE49-F238E27FC236}">
                <a16:creationId xmlns:a16="http://schemas.microsoft.com/office/drawing/2014/main" id="{B01D6DD2-FACF-6B2F-D8FD-887ACED85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450013"/>
            <a:ext cx="865188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Margin Management</a:t>
            </a:r>
          </a:p>
        </p:txBody>
      </p:sp>
      <p:sp>
        <p:nvSpPr>
          <p:cNvPr id="37944" name="AutoShape 56">
            <a:extLst>
              <a:ext uri="{FF2B5EF4-FFF2-40B4-BE49-F238E27FC236}">
                <a16:creationId xmlns:a16="http://schemas.microsoft.com/office/drawing/2014/main" id="{4B4A6DBB-A9F3-4C2F-0CA1-09F7BB1A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2800350"/>
            <a:ext cx="733425" cy="1508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OLS</a:t>
            </a:r>
          </a:p>
        </p:txBody>
      </p:sp>
      <p:sp>
        <p:nvSpPr>
          <p:cNvPr id="37945" name="AutoShape 57">
            <a:extLst>
              <a:ext uri="{FF2B5EF4-FFF2-40B4-BE49-F238E27FC236}">
                <a16:creationId xmlns:a16="http://schemas.microsoft.com/office/drawing/2014/main" id="{430792BB-47C3-CAD7-BE76-017A31FB7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5591175"/>
            <a:ext cx="733425" cy="1508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Consultworks</a:t>
            </a:r>
          </a:p>
        </p:txBody>
      </p:sp>
      <p:sp>
        <p:nvSpPr>
          <p:cNvPr id="37946" name="Line 58">
            <a:extLst>
              <a:ext uri="{FF2B5EF4-FFF2-40B4-BE49-F238E27FC236}">
                <a16:creationId xmlns:a16="http://schemas.microsoft.com/office/drawing/2014/main" id="{DC2C0379-FABB-A111-4489-E672415CE0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99402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47" name="Line 59">
            <a:extLst>
              <a:ext uri="{FF2B5EF4-FFF2-40B4-BE49-F238E27FC236}">
                <a16:creationId xmlns:a16="http://schemas.microsoft.com/office/drawing/2014/main" id="{420D1621-C8D6-858E-C55F-A842EA4C8E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389188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48" name="Line 60">
            <a:extLst>
              <a:ext uri="{FF2B5EF4-FFF2-40B4-BE49-F238E27FC236}">
                <a16:creationId xmlns:a16="http://schemas.microsoft.com/office/drawing/2014/main" id="{8FFD2E12-3142-EC6C-7D05-8C22743A31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22161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49" name="Line 61">
            <a:extLst>
              <a:ext uri="{FF2B5EF4-FFF2-40B4-BE49-F238E27FC236}">
                <a16:creationId xmlns:a16="http://schemas.microsoft.com/office/drawing/2014/main" id="{3911F597-AB3D-77E3-1B6A-B19FA6A94D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5188" y="5783263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50" name="Line 62">
            <a:extLst>
              <a:ext uri="{FF2B5EF4-FFF2-40B4-BE49-F238E27FC236}">
                <a16:creationId xmlns:a16="http://schemas.microsoft.com/office/drawing/2014/main" id="{60B25D2A-A8C0-2CF3-5A8E-B7ED03B60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999163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51" name="Line 63">
            <a:extLst>
              <a:ext uri="{FF2B5EF4-FFF2-40B4-BE49-F238E27FC236}">
                <a16:creationId xmlns:a16="http://schemas.microsoft.com/office/drawing/2014/main" id="{45A74440-8D4D-60FB-72D8-44E56DBF7B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1957388"/>
            <a:ext cx="2506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52" name="AutoShape 64">
            <a:extLst>
              <a:ext uri="{FF2B5EF4-FFF2-40B4-BE49-F238E27FC236}">
                <a16:creationId xmlns:a16="http://schemas.microsoft.com/office/drawing/2014/main" id="{5FFAFB87-D47C-13F0-D8E9-5C0F54CDA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3382963"/>
            <a:ext cx="431800" cy="303212"/>
          </a:xfrm>
          <a:prstGeom prst="flowChartMagneticDisk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7953" name="AutoShape 65">
            <a:extLst>
              <a:ext uri="{FF2B5EF4-FFF2-40B4-BE49-F238E27FC236}">
                <a16:creationId xmlns:a16="http://schemas.microsoft.com/office/drawing/2014/main" id="{235A7412-41CF-D6B6-6307-40D4FC162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686175"/>
            <a:ext cx="388937" cy="303213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CRDB</a:t>
            </a:r>
          </a:p>
        </p:txBody>
      </p:sp>
      <p:sp>
        <p:nvSpPr>
          <p:cNvPr id="37954" name="AutoShape 66">
            <a:extLst>
              <a:ext uri="{FF2B5EF4-FFF2-40B4-BE49-F238E27FC236}">
                <a16:creationId xmlns:a16="http://schemas.microsoft.com/office/drawing/2014/main" id="{D18DBAC0-6B83-5EAF-5A61-856238793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3686175"/>
            <a:ext cx="388938" cy="303213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MAC</a:t>
            </a:r>
          </a:p>
        </p:txBody>
      </p:sp>
      <p:cxnSp>
        <p:nvCxnSpPr>
          <p:cNvPr id="37955" name="AutoShape 67">
            <a:extLst>
              <a:ext uri="{FF2B5EF4-FFF2-40B4-BE49-F238E27FC236}">
                <a16:creationId xmlns:a16="http://schemas.microsoft.com/office/drawing/2014/main" id="{1C861992-352A-0A12-FE69-9E57705553B7}"/>
              </a:ext>
            </a:extLst>
          </p:cNvPr>
          <p:cNvCxnSpPr>
            <a:cxnSpLocks noChangeShapeType="1"/>
            <a:stCxn id="37934" idx="2"/>
            <a:endCxn id="37936" idx="0"/>
          </p:cNvCxnSpPr>
          <p:nvPr/>
        </p:nvCxnSpPr>
        <p:spPr bwMode="auto">
          <a:xfrm rot="5400000">
            <a:off x="5107781" y="2161382"/>
            <a:ext cx="2841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56" name="AutoShape 68">
            <a:extLst>
              <a:ext uri="{FF2B5EF4-FFF2-40B4-BE49-F238E27FC236}">
                <a16:creationId xmlns:a16="http://schemas.microsoft.com/office/drawing/2014/main" id="{D8E4CDF7-51FA-C7B1-C841-8DCF75C71B1E}"/>
              </a:ext>
            </a:extLst>
          </p:cNvPr>
          <p:cNvCxnSpPr>
            <a:cxnSpLocks noChangeShapeType="1"/>
            <a:stCxn id="37936" idx="2"/>
            <a:endCxn id="37937" idx="0"/>
          </p:cNvCxnSpPr>
          <p:nvPr/>
        </p:nvCxnSpPr>
        <p:spPr bwMode="auto">
          <a:xfrm rot="5400000">
            <a:off x="5142707" y="2540794"/>
            <a:ext cx="214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57" name="AutoShape 69">
            <a:extLst>
              <a:ext uri="{FF2B5EF4-FFF2-40B4-BE49-F238E27FC236}">
                <a16:creationId xmlns:a16="http://schemas.microsoft.com/office/drawing/2014/main" id="{AE4407E3-F63D-6459-3F08-E392D8D80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185738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IB Component</a:t>
            </a:r>
          </a:p>
        </p:txBody>
      </p:sp>
      <p:cxnSp>
        <p:nvCxnSpPr>
          <p:cNvPr id="37958" name="AutoShape 70">
            <a:extLst>
              <a:ext uri="{FF2B5EF4-FFF2-40B4-BE49-F238E27FC236}">
                <a16:creationId xmlns:a16="http://schemas.microsoft.com/office/drawing/2014/main" id="{DDA205A7-76D9-F3A5-D2D7-85A67BAB1180}"/>
              </a:ext>
            </a:extLst>
          </p:cNvPr>
          <p:cNvCxnSpPr>
            <a:cxnSpLocks noChangeShapeType="1"/>
            <a:stCxn id="37937" idx="3"/>
            <a:endCxn id="37935" idx="1"/>
          </p:cNvCxnSpPr>
          <p:nvPr/>
        </p:nvCxnSpPr>
        <p:spPr bwMode="auto">
          <a:xfrm>
            <a:off x="5767388" y="2713038"/>
            <a:ext cx="3413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59" name="AutoShape 71">
            <a:extLst>
              <a:ext uri="{FF2B5EF4-FFF2-40B4-BE49-F238E27FC236}">
                <a16:creationId xmlns:a16="http://schemas.microsoft.com/office/drawing/2014/main" id="{1A6C38E1-A3D5-3EBB-E81C-DAAC58CEB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2994025"/>
            <a:ext cx="1131888" cy="215900"/>
          </a:xfrm>
          <a:prstGeom prst="roundRect">
            <a:avLst>
              <a:gd name="adj" fmla="val 16667"/>
            </a:avLst>
          </a:prstGeom>
          <a:solidFill>
            <a:srgbClr val="B2B2B2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6B6B6B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TopCat</a:t>
            </a:r>
          </a:p>
        </p:txBody>
      </p:sp>
      <p:cxnSp>
        <p:nvCxnSpPr>
          <p:cNvPr id="37960" name="AutoShape 72">
            <a:extLst>
              <a:ext uri="{FF2B5EF4-FFF2-40B4-BE49-F238E27FC236}">
                <a16:creationId xmlns:a16="http://schemas.microsoft.com/office/drawing/2014/main" id="{5395C6FF-73F3-490E-6750-3206D21E4432}"/>
              </a:ext>
            </a:extLst>
          </p:cNvPr>
          <p:cNvCxnSpPr>
            <a:cxnSpLocks noChangeShapeType="1"/>
            <a:stCxn id="37937" idx="2"/>
            <a:endCxn id="37959" idx="1"/>
          </p:cNvCxnSpPr>
          <p:nvPr/>
        </p:nvCxnSpPr>
        <p:spPr bwMode="auto">
          <a:xfrm rot="16200000" flipH="1">
            <a:off x="5517357" y="2510631"/>
            <a:ext cx="323850" cy="8588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61" name="AutoShape 73">
            <a:extLst>
              <a:ext uri="{FF2B5EF4-FFF2-40B4-BE49-F238E27FC236}">
                <a16:creationId xmlns:a16="http://schemas.microsoft.com/office/drawing/2014/main" id="{CE8C67E4-4BA4-D083-D1BD-53357682B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3468688"/>
            <a:ext cx="388938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OET</a:t>
            </a:r>
          </a:p>
        </p:txBody>
      </p:sp>
      <p:sp>
        <p:nvSpPr>
          <p:cNvPr id="37962" name="AutoShape 74">
            <a:extLst>
              <a:ext uri="{FF2B5EF4-FFF2-40B4-BE49-F238E27FC236}">
                <a16:creationId xmlns:a16="http://schemas.microsoft.com/office/drawing/2014/main" id="{294D5EE1-409F-7A1B-377C-B78D46181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788" y="6450013"/>
            <a:ext cx="865187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Reconciliations</a:t>
            </a:r>
          </a:p>
        </p:txBody>
      </p:sp>
      <p:sp>
        <p:nvSpPr>
          <p:cNvPr id="37963" name="Text Box 75">
            <a:extLst>
              <a:ext uri="{FF2B5EF4-FFF2-40B4-BE49-F238E27FC236}">
                <a16:creationId xmlns:a16="http://schemas.microsoft.com/office/drawing/2014/main" id="{407164B8-CF7E-70CB-06DF-E9C043E75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550" y="1179513"/>
            <a:ext cx="2544763" cy="1825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F255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solidFill>
                  <a:schemeClr val="bg1"/>
                </a:solidFill>
                <a:latin typeface="Frutiger 45 Light" pitchFamily="34" charset="0"/>
              </a:rPr>
              <a:t>Positional Data Services</a:t>
            </a:r>
          </a:p>
        </p:txBody>
      </p:sp>
      <p:sp>
        <p:nvSpPr>
          <p:cNvPr id="37964" name="AutoShape 76">
            <a:extLst>
              <a:ext uri="{FF2B5EF4-FFF2-40B4-BE49-F238E27FC236}">
                <a16:creationId xmlns:a16="http://schemas.microsoft.com/office/drawing/2014/main" id="{B0D07B5C-DE8F-687A-4454-F03C98EA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395413"/>
            <a:ext cx="887413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Operational Position Keeping</a:t>
            </a:r>
          </a:p>
        </p:txBody>
      </p:sp>
      <p:sp>
        <p:nvSpPr>
          <p:cNvPr id="37965" name="AutoShape 77">
            <a:extLst>
              <a:ext uri="{FF2B5EF4-FFF2-40B4-BE49-F238E27FC236}">
                <a16:creationId xmlns:a16="http://schemas.microsoft.com/office/drawing/2014/main" id="{A511F6EF-FD83-140A-1F29-6744F8255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95413"/>
            <a:ext cx="887412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Valuation</a:t>
            </a:r>
          </a:p>
        </p:txBody>
      </p:sp>
      <p:sp>
        <p:nvSpPr>
          <p:cNvPr id="37966" name="AutoShape 78">
            <a:extLst>
              <a:ext uri="{FF2B5EF4-FFF2-40B4-BE49-F238E27FC236}">
                <a16:creationId xmlns:a16="http://schemas.microsoft.com/office/drawing/2014/main" id="{6373448E-ABB3-F66F-2C3A-86F7E9AAB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0" y="1395413"/>
            <a:ext cx="865188" cy="301625"/>
          </a:xfrm>
          <a:prstGeom prst="chevron">
            <a:avLst>
              <a:gd name="adj" fmla="val 0"/>
            </a:avLst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Ledger</a:t>
            </a:r>
          </a:p>
        </p:txBody>
      </p:sp>
      <p:sp>
        <p:nvSpPr>
          <p:cNvPr id="37967" name="AutoShape 79">
            <a:extLst>
              <a:ext uri="{FF2B5EF4-FFF2-40B4-BE49-F238E27FC236}">
                <a16:creationId xmlns:a16="http://schemas.microsoft.com/office/drawing/2014/main" id="{A5B827B3-D88C-B479-7965-BEA34EC21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413" y="346868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CPOS</a:t>
            </a:r>
          </a:p>
        </p:txBody>
      </p:sp>
      <p:sp>
        <p:nvSpPr>
          <p:cNvPr id="37968" name="AutoShape 80">
            <a:extLst>
              <a:ext uri="{FF2B5EF4-FFF2-40B4-BE49-F238E27FC236}">
                <a16:creationId xmlns:a16="http://schemas.microsoft.com/office/drawing/2014/main" id="{CC61F801-AD5F-9C8E-D4CC-228CAB1DA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3036888"/>
            <a:ext cx="1036638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CPOS</a:t>
            </a:r>
          </a:p>
        </p:txBody>
      </p:sp>
      <p:sp>
        <p:nvSpPr>
          <p:cNvPr id="37969" name="AutoShape 81">
            <a:extLst>
              <a:ext uri="{FF2B5EF4-FFF2-40B4-BE49-F238E27FC236}">
                <a16:creationId xmlns:a16="http://schemas.microsoft.com/office/drawing/2014/main" id="{3A923466-DFC7-7682-6213-033B6378B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2647950"/>
            <a:ext cx="1036638" cy="130175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BPSA</a:t>
            </a:r>
          </a:p>
        </p:txBody>
      </p:sp>
      <p:cxnSp>
        <p:nvCxnSpPr>
          <p:cNvPr id="37970" name="AutoShape 82">
            <a:extLst>
              <a:ext uri="{FF2B5EF4-FFF2-40B4-BE49-F238E27FC236}">
                <a16:creationId xmlns:a16="http://schemas.microsoft.com/office/drawing/2014/main" id="{2F09C3CB-3FC3-6F6A-3ABE-7B7C09111275}"/>
              </a:ext>
            </a:extLst>
          </p:cNvPr>
          <p:cNvCxnSpPr>
            <a:cxnSpLocks noChangeShapeType="1"/>
            <a:stCxn id="37937" idx="2"/>
            <a:endCxn id="37968" idx="2"/>
          </p:cNvCxnSpPr>
          <p:nvPr/>
        </p:nvCxnSpPr>
        <p:spPr bwMode="auto">
          <a:xfrm rot="16200000" flipH="1">
            <a:off x="6414294" y="1613694"/>
            <a:ext cx="388938" cy="2717800"/>
          </a:xfrm>
          <a:prstGeom prst="bentConnector3">
            <a:avLst>
              <a:gd name="adj1" fmla="val 158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71" name="AutoShape 83">
            <a:extLst>
              <a:ext uri="{FF2B5EF4-FFF2-40B4-BE49-F238E27FC236}">
                <a16:creationId xmlns:a16="http://schemas.microsoft.com/office/drawing/2014/main" id="{B90889A6-BBCE-E492-2D32-0A02E072C47C}"/>
              </a:ext>
            </a:extLst>
          </p:cNvPr>
          <p:cNvCxnSpPr>
            <a:cxnSpLocks noChangeShapeType="1"/>
            <a:stCxn id="37959" idx="3"/>
            <a:endCxn id="37969" idx="1"/>
          </p:cNvCxnSpPr>
          <p:nvPr/>
        </p:nvCxnSpPr>
        <p:spPr bwMode="auto">
          <a:xfrm flipV="1">
            <a:off x="7240588" y="2713038"/>
            <a:ext cx="207962" cy="388937"/>
          </a:xfrm>
          <a:prstGeom prst="bentConnector3">
            <a:avLst>
              <a:gd name="adj1" fmla="val 4962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72" name="AutoShape 84">
            <a:extLst>
              <a:ext uri="{FF2B5EF4-FFF2-40B4-BE49-F238E27FC236}">
                <a16:creationId xmlns:a16="http://schemas.microsoft.com/office/drawing/2014/main" id="{EA1E4259-6DE5-AF0B-3229-52CE6A217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4160838"/>
            <a:ext cx="388938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BPSA</a:t>
            </a:r>
          </a:p>
        </p:txBody>
      </p:sp>
      <p:sp>
        <p:nvSpPr>
          <p:cNvPr id="37973" name="AutoShape 85">
            <a:extLst>
              <a:ext uri="{FF2B5EF4-FFF2-40B4-BE49-F238E27FC236}">
                <a16:creationId xmlns:a16="http://schemas.microsoft.com/office/drawing/2014/main" id="{28546875-A16A-2267-E84D-39C922885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88" y="3252788"/>
            <a:ext cx="1036637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PMR</a:t>
            </a:r>
          </a:p>
        </p:txBody>
      </p:sp>
      <p:cxnSp>
        <p:nvCxnSpPr>
          <p:cNvPr id="37974" name="AutoShape 86">
            <a:extLst>
              <a:ext uri="{FF2B5EF4-FFF2-40B4-BE49-F238E27FC236}">
                <a16:creationId xmlns:a16="http://schemas.microsoft.com/office/drawing/2014/main" id="{47AFDCFB-E6B2-3B26-9BC2-D88F30A9286F}"/>
              </a:ext>
            </a:extLst>
          </p:cNvPr>
          <p:cNvCxnSpPr>
            <a:cxnSpLocks noChangeShapeType="1"/>
            <a:stCxn id="37959" idx="2"/>
          </p:cNvCxnSpPr>
          <p:nvPr/>
        </p:nvCxnSpPr>
        <p:spPr bwMode="auto">
          <a:xfrm rot="5400000">
            <a:off x="6157119" y="3728244"/>
            <a:ext cx="10366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75" name="AutoShape 87">
            <a:extLst>
              <a:ext uri="{FF2B5EF4-FFF2-40B4-BE49-F238E27FC236}">
                <a16:creationId xmlns:a16="http://schemas.microsoft.com/office/drawing/2014/main" id="{256CAF1C-40FC-7432-49A5-104F014D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46868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PRDB</a:t>
            </a:r>
          </a:p>
        </p:txBody>
      </p:sp>
      <p:sp>
        <p:nvSpPr>
          <p:cNvPr id="37976" name="AutoShape 88">
            <a:extLst>
              <a:ext uri="{FF2B5EF4-FFF2-40B4-BE49-F238E27FC236}">
                <a16:creationId xmlns:a16="http://schemas.microsoft.com/office/drawing/2014/main" id="{567FABFE-958B-790F-74E5-0D18030F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700" y="444500"/>
            <a:ext cx="1122363" cy="215900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Broadridge</a:t>
            </a:r>
          </a:p>
        </p:txBody>
      </p:sp>
      <p:sp>
        <p:nvSpPr>
          <p:cNvPr id="37977" name="AutoShape 89">
            <a:extLst>
              <a:ext uri="{FF2B5EF4-FFF2-40B4-BE49-F238E27FC236}">
                <a16:creationId xmlns:a16="http://schemas.microsoft.com/office/drawing/2014/main" id="{27810AD5-9E81-D832-D3E0-227564D1B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44500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Margin</a:t>
            </a:r>
          </a:p>
        </p:txBody>
      </p:sp>
      <p:sp>
        <p:nvSpPr>
          <p:cNvPr id="37978" name="AutoShape 90">
            <a:extLst>
              <a:ext uri="{FF2B5EF4-FFF2-40B4-BE49-F238E27FC236}">
                <a16:creationId xmlns:a16="http://schemas.microsoft.com/office/drawing/2014/main" id="{33F82FE0-B67E-B987-647C-3BE82AD7D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6799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ACATS</a:t>
            </a:r>
          </a:p>
        </p:txBody>
      </p:sp>
      <p:sp>
        <p:nvSpPr>
          <p:cNvPr id="37979" name="AutoShape 91">
            <a:extLst>
              <a:ext uri="{FF2B5EF4-FFF2-40B4-BE49-F238E27FC236}">
                <a16:creationId xmlns:a16="http://schemas.microsoft.com/office/drawing/2014/main" id="{2A3C63A6-F623-2330-CEA4-181BD3993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2432050"/>
            <a:ext cx="1036638" cy="130175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Bookkeeping</a:t>
            </a:r>
          </a:p>
        </p:txBody>
      </p:sp>
      <p:sp>
        <p:nvSpPr>
          <p:cNvPr id="37980" name="AutoShape 92">
            <a:extLst>
              <a:ext uri="{FF2B5EF4-FFF2-40B4-BE49-F238E27FC236}">
                <a16:creationId xmlns:a16="http://schemas.microsoft.com/office/drawing/2014/main" id="{16DF2BB1-B0A4-C81F-5BA8-8E1A4328E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088" y="2994025"/>
            <a:ext cx="1036637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Gear</a:t>
            </a:r>
          </a:p>
        </p:txBody>
      </p:sp>
      <p:cxnSp>
        <p:nvCxnSpPr>
          <p:cNvPr id="37981" name="AutoShape 93">
            <a:extLst>
              <a:ext uri="{FF2B5EF4-FFF2-40B4-BE49-F238E27FC236}">
                <a16:creationId xmlns:a16="http://schemas.microsoft.com/office/drawing/2014/main" id="{EBF8616E-F10E-AC02-364D-C5B213F9A9E5}"/>
              </a:ext>
            </a:extLst>
          </p:cNvPr>
          <p:cNvCxnSpPr>
            <a:cxnSpLocks noChangeShapeType="1"/>
            <a:endCxn id="37973" idx="1"/>
          </p:cNvCxnSpPr>
          <p:nvPr/>
        </p:nvCxnSpPr>
        <p:spPr bwMode="auto">
          <a:xfrm>
            <a:off x="8485188" y="3124200"/>
            <a:ext cx="215900" cy="193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82" name="AutoShape 94">
            <a:extLst>
              <a:ext uri="{FF2B5EF4-FFF2-40B4-BE49-F238E27FC236}">
                <a16:creationId xmlns:a16="http://schemas.microsoft.com/office/drawing/2014/main" id="{5436623F-7A21-7EE8-BBDE-D36B5B3F1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958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Tefra</a:t>
            </a:r>
          </a:p>
        </p:txBody>
      </p:sp>
      <p:sp>
        <p:nvSpPr>
          <p:cNvPr id="37984" name="AutoShape 96">
            <a:extLst>
              <a:ext uri="{FF2B5EF4-FFF2-40B4-BE49-F238E27FC236}">
                <a16:creationId xmlns:a16="http://schemas.microsoft.com/office/drawing/2014/main" id="{C7B20139-51E1-AEDD-6123-FA1A45774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3530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P&amp;S</a:t>
            </a:r>
          </a:p>
        </p:txBody>
      </p:sp>
      <p:sp>
        <p:nvSpPr>
          <p:cNvPr id="37985" name="AutoShape 97">
            <a:extLst>
              <a:ext uri="{FF2B5EF4-FFF2-40B4-BE49-F238E27FC236}">
                <a16:creationId xmlns:a16="http://schemas.microsoft.com/office/drawing/2014/main" id="{6927E522-9A60-BBAF-743E-A37AD6865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4333875"/>
            <a:ext cx="1036637" cy="1301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Client Statements</a:t>
            </a:r>
          </a:p>
        </p:txBody>
      </p:sp>
      <p:sp>
        <p:nvSpPr>
          <p:cNvPr id="37986" name="Line 98">
            <a:extLst>
              <a:ext uri="{FF2B5EF4-FFF2-40B4-BE49-F238E27FC236}">
                <a16:creationId xmlns:a16="http://schemas.microsoft.com/office/drawing/2014/main" id="{2BC0A008-9140-38F7-1884-F594BDBC2D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0700" y="4030663"/>
            <a:ext cx="0" cy="303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cxnSp>
        <p:nvCxnSpPr>
          <p:cNvPr id="37987" name="AutoShape 99">
            <a:extLst>
              <a:ext uri="{FF2B5EF4-FFF2-40B4-BE49-F238E27FC236}">
                <a16:creationId xmlns:a16="http://schemas.microsoft.com/office/drawing/2014/main" id="{2097D375-6C37-7EEC-2D0F-7C478F4B5E5F}"/>
              </a:ext>
            </a:extLst>
          </p:cNvPr>
          <p:cNvCxnSpPr>
            <a:cxnSpLocks noChangeShapeType="1"/>
            <a:stCxn id="37969" idx="2"/>
            <a:endCxn id="37968" idx="0"/>
          </p:cNvCxnSpPr>
          <p:nvPr/>
        </p:nvCxnSpPr>
        <p:spPr bwMode="auto">
          <a:xfrm rot="5400000">
            <a:off x="7838281" y="2907507"/>
            <a:ext cx="2587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88" name="AutoShape 100">
            <a:extLst>
              <a:ext uri="{FF2B5EF4-FFF2-40B4-BE49-F238E27FC236}">
                <a16:creationId xmlns:a16="http://schemas.microsoft.com/office/drawing/2014/main" id="{162220F2-A5FC-B6A1-A137-CFB819D09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568950"/>
            <a:ext cx="1303338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Reg Reporting</a:t>
            </a:r>
          </a:p>
        </p:txBody>
      </p:sp>
      <p:sp>
        <p:nvSpPr>
          <p:cNvPr id="37989" name="AutoShape 101">
            <a:extLst>
              <a:ext uri="{FF2B5EF4-FFF2-40B4-BE49-F238E27FC236}">
                <a16:creationId xmlns:a16="http://schemas.microsoft.com/office/drawing/2014/main" id="{46DCA0C1-E61A-08DA-9922-B9E013C2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802313"/>
            <a:ext cx="1303338" cy="147637"/>
          </a:xfrm>
          <a:prstGeom prst="roundRect">
            <a:avLst>
              <a:gd name="adj" fmla="val 16667"/>
            </a:avLst>
          </a:prstGeom>
          <a:solidFill>
            <a:srgbClr val="9999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Cash</a:t>
            </a:r>
          </a:p>
        </p:txBody>
      </p:sp>
      <p:sp>
        <p:nvSpPr>
          <p:cNvPr id="37994" name="Text Box 1130">
            <a:extLst>
              <a:ext uri="{FF2B5EF4-FFF2-40B4-BE49-F238E27FC236}">
                <a16:creationId xmlns:a16="http://schemas.microsoft.com/office/drawing/2014/main" id="{C2F56244-EEB4-A2FF-38E2-07E071A54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8" y="4160838"/>
            <a:ext cx="1628775" cy="2444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Broadridge Transactions</a:t>
            </a:r>
          </a:p>
        </p:txBody>
      </p:sp>
      <p:sp>
        <p:nvSpPr>
          <p:cNvPr id="37995" name="Text Box 1131">
            <a:extLst>
              <a:ext uri="{FF2B5EF4-FFF2-40B4-BE49-F238E27FC236}">
                <a16:creationId xmlns:a16="http://schemas.microsoft.com/office/drawing/2014/main" id="{6AEFBFD8-4CEF-18B1-F758-FA3C613B1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2173288"/>
            <a:ext cx="846137" cy="2444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Broadridge</a:t>
            </a:r>
          </a:p>
        </p:txBody>
      </p:sp>
      <p:sp>
        <p:nvSpPr>
          <p:cNvPr id="37996" name="Line 37">
            <a:extLst>
              <a:ext uri="{FF2B5EF4-FFF2-40B4-BE49-F238E27FC236}">
                <a16:creationId xmlns:a16="http://schemas.microsoft.com/office/drawing/2014/main" id="{CDD78D59-B1EB-C31E-BB8F-6134EF98F8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0738" y="5154613"/>
            <a:ext cx="3586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7998" name="AutoShape 87">
            <a:extLst>
              <a:ext uri="{FF2B5EF4-FFF2-40B4-BE49-F238E27FC236}">
                <a16:creationId xmlns:a16="http://schemas.microsoft.com/office/drawing/2014/main" id="{8CF1795E-4B17-0C86-0170-5930934F6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416083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PRDB</a:t>
            </a:r>
          </a:p>
        </p:txBody>
      </p:sp>
      <p:sp>
        <p:nvSpPr>
          <p:cNvPr id="37999" name="AutoShape 65">
            <a:extLst>
              <a:ext uri="{FF2B5EF4-FFF2-40B4-BE49-F238E27FC236}">
                <a16:creationId xmlns:a16="http://schemas.microsoft.com/office/drawing/2014/main" id="{AB82882D-DCFD-1655-3023-9FEA3C236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4160838"/>
            <a:ext cx="388937" cy="303212"/>
          </a:xfrm>
          <a:prstGeom prst="flowChartMagneticDisk">
            <a:avLst/>
          </a:prstGeom>
          <a:gradFill rotWithShape="1">
            <a:gsLst>
              <a:gs pos="0">
                <a:srgbClr val="FFFFFF"/>
              </a:gs>
              <a:gs pos="100000">
                <a:srgbClr val="00AC4A">
                  <a:alpha val="79999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672C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969963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969963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/>
            <a:r>
              <a:rPr lang="en-US" altLang="en-US" sz="800">
                <a:latin typeface="Frutiger 45 Light" pitchFamily="34" charset="0"/>
              </a:rPr>
              <a:t>CRDB</a:t>
            </a:r>
          </a:p>
        </p:txBody>
      </p:sp>
      <p:sp>
        <p:nvSpPr>
          <p:cNvPr id="38000" name="Text Box 1136">
            <a:extLst>
              <a:ext uri="{FF2B5EF4-FFF2-40B4-BE49-F238E27FC236}">
                <a16:creationId xmlns:a16="http://schemas.microsoft.com/office/drawing/2014/main" id="{EAFBE7A4-0CE8-DD24-4FF5-810CF1AC2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4203700"/>
            <a:ext cx="1570037" cy="2444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1000">
                <a:solidFill>
                  <a:schemeClr val="bg1"/>
                </a:solidFill>
                <a:latin typeface="Frutiger 45 Light" pitchFamily="34" charset="0"/>
              </a:rPr>
              <a:t>Broadridge Data Stores</a:t>
            </a:r>
          </a:p>
        </p:txBody>
      </p:sp>
      <p:sp>
        <p:nvSpPr>
          <p:cNvPr id="38001" name="AutoShape 94">
            <a:extLst>
              <a:ext uri="{FF2B5EF4-FFF2-40B4-BE49-F238E27FC236}">
                <a16:creationId xmlns:a16="http://schemas.microsoft.com/office/drawing/2014/main" id="{46C17534-58D1-58C2-FA85-04321E853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111750"/>
            <a:ext cx="1303337" cy="147638"/>
          </a:xfrm>
          <a:prstGeom prst="roundRect">
            <a:avLst>
              <a:gd name="adj" fmla="val 16667"/>
            </a:avLst>
          </a:prstGeom>
          <a:solidFill>
            <a:srgbClr val="9999FF">
              <a:alpha val="8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C5C99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600">
                <a:latin typeface="Frutiger 55 Roman" pitchFamily="34" charset="0"/>
              </a:rPr>
              <a:t>Breaks and Reconciliation</a:t>
            </a:r>
          </a:p>
        </p:txBody>
      </p:sp>
      <p:sp>
        <p:nvSpPr>
          <p:cNvPr id="38002" name="Text Box 1138">
            <a:extLst>
              <a:ext uri="{FF2B5EF4-FFF2-40B4-BE49-F238E27FC236}">
                <a16:creationId xmlns:a16="http://schemas.microsoft.com/office/drawing/2014/main" id="{1330972B-0D60-8B4E-5BF2-5AA6EF1E7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775" y="4506913"/>
            <a:ext cx="3327400" cy="396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Reference Data copies must stay in sync or integrate in real-time through external service calls</a:t>
            </a:r>
          </a:p>
        </p:txBody>
      </p:sp>
      <p:sp>
        <p:nvSpPr>
          <p:cNvPr id="38003" name="Text Box 1139">
            <a:extLst>
              <a:ext uri="{FF2B5EF4-FFF2-40B4-BE49-F238E27FC236}">
                <a16:creationId xmlns:a16="http://schemas.microsoft.com/office/drawing/2014/main" id="{6733C92F-08FF-8DB5-3F7B-A63F81FF8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376738"/>
            <a:ext cx="993775" cy="1158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Some Front-end systems will be integrated directly with ConsultWorks e.g., ACATS</a:t>
            </a:r>
          </a:p>
        </p:txBody>
      </p:sp>
      <p:sp>
        <p:nvSpPr>
          <p:cNvPr id="38004" name="Text Box 1140">
            <a:extLst>
              <a:ext uri="{FF2B5EF4-FFF2-40B4-BE49-F238E27FC236}">
                <a16:creationId xmlns:a16="http://schemas.microsoft.com/office/drawing/2014/main" id="{C6DB6B19-987E-F5CD-BA8C-04B94AFDD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8400" y="4160838"/>
            <a:ext cx="906463" cy="5492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Statements fed from CPOS</a:t>
            </a:r>
          </a:p>
        </p:txBody>
      </p:sp>
      <p:sp>
        <p:nvSpPr>
          <p:cNvPr id="38005" name="Text Box 1141">
            <a:extLst>
              <a:ext uri="{FF2B5EF4-FFF2-40B4-BE49-F238E27FC236}">
                <a16:creationId xmlns:a16="http://schemas.microsoft.com/office/drawing/2014/main" id="{2AEC21B4-B62E-8BB6-3819-C3D528A52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641725"/>
            <a:ext cx="1512888" cy="3968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CPOS for Reporting All Client Positions</a:t>
            </a:r>
          </a:p>
        </p:txBody>
      </p:sp>
      <p:sp>
        <p:nvSpPr>
          <p:cNvPr id="38006" name="Line 37">
            <a:extLst>
              <a:ext uri="{FF2B5EF4-FFF2-40B4-BE49-F238E27FC236}">
                <a16:creationId xmlns:a16="http://schemas.microsoft.com/office/drawing/2014/main" id="{CD01D1F7-0529-F00E-C8C4-05B8A96B18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79675" y="4030663"/>
            <a:ext cx="1598613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8007" name="Line 37">
            <a:extLst>
              <a:ext uri="{FF2B5EF4-FFF2-40B4-BE49-F238E27FC236}">
                <a16:creationId xmlns:a16="http://schemas.microsoft.com/office/drawing/2014/main" id="{0C2AFECA-D5B8-DFB5-B7B9-D9E0D76BA8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6163" y="3771900"/>
            <a:ext cx="604837" cy="388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8008" name="Line 37">
            <a:extLst>
              <a:ext uri="{FF2B5EF4-FFF2-40B4-BE49-F238E27FC236}">
                <a16:creationId xmlns:a16="http://schemas.microsoft.com/office/drawing/2014/main" id="{6BBD7453-8EC1-72DF-60B5-36E7CC138B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8375" y="3771900"/>
            <a:ext cx="260350" cy="3460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8010" name="Text Box 1146">
            <a:extLst>
              <a:ext uri="{FF2B5EF4-FFF2-40B4-BE49-F238E27FC236}">
                <a16:creationId xmlns:a16="http://schemas.microsoft.com/office/drawing/2014/main" id="{71E52BFA-C104-1978-11BF-FB954D12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888" y="3729038"/>
            <a:ext cx="906462" cy="2444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000">
                <a:solidFill>
                  <a:srgbClr val="FF0000"/>
                </a:solidFill>
                <a:latin typeface="Frutiger 45 Light" pitchFamily="34" charset="0"/>
              </a:rPr>
              <a:t>Feeds</a:t>
            </a:r>
          </a:p>
        </p:txBody>
      </p:sp>
      <p:cxnSp>
        <p:nvCxnSpPr>
          <p:cNvPr id="38011" name="AutoShape 93">
            <a:extLst>
              <a:ext uri="{FF2B5EF4-FFF2-40B4-BE49-F238E27FC236}">
                <a16:creationId xmlns:a16="http://schemas.microsoft.com/office/drawing/2014/main" id="{4E5CCFDA-C66B-3C7D-BE4B-255B74431F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485188" y="3036888"/>
            <a:ext cx="215900" cy="44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17">
            <a:extLst>
              <a:ext uri="{FF2B5EF4-FFF2-40B4-BE49-F238E27FC236}">
                <a16:creationId xmlns:a16="http://schemas.microsoft.com/office/drawing/2014/main" id="{E5B8021E-B438-07B5-C383-BF8A0615D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63" y="1611313"/>
            <a:ext cx="7777162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14F99"/>
                  </a:outerShdw>
                </a:effectLst>
              </a14:hiddenEffects>
            </a:ext>
          </a:extLst>
        </p:spPr>
      </p:pic>
      <p:sp>
        <p:nvSpPr>
          <p:cNvPr id="41987" name="Rectangle 2">
            <a:extLst>
              <a:ext uri="{FF2B5EF4-FFF2-40B4-BE49-F238E27FC236}">
                <a16:creationId xmlns:a16="http://schemas.microsoft.com/office/drawing/2014/main" id="{1215E4B3-A58F-A1A5-5108-C5E68058EE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5163" y="0"/>
            <a:ext cx="8653462" cy="941388"/>
          </a:xfrm>
        </p:spPr>
        <p:txBody>
          <a:bodyPr/>
          <a:lstStyle/>
          <a:p>
            <a:pPr eaLnBrk="1" hangingPunct="1"/>
            <a:r>
              <a:rPr lang="en-US" altLang="en-US" sz="1900"/>
              <a:t>Conceptual Target State (Enhance Existing Systems)</a:t>
            </a:r>
          </a:p>
        </p:txBody>
      </p:sp>
      <p:sp>
        <p:nvSpPr>
          <p:cNvPr id="41988" name="Text Box 3">
            <a:extLst>
              <a:ext uri="{FF2B5EF4-FFF2-40B4-BE49-F238E27FC236}">
                <a16:creationId xmlns:a16="http://schemas.microsoft.com/office/drawing/2014/main" id="{C0D621EA-6E82-6514-51BB-61DDC8305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963613"/>
            <a:ext cx="8716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300">
                <a:solidFill>
                  <a:schemeClr val="bg2"/>
                </a:solidFill>
                <a:latin typeface="Frutiger 55 Roman" pitchFamily="34" charset="0"/>
              </a:rPr>
              <a:t>Implementation of WMA post trade business functions using business services available from all platforms. 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BFEE23B2-E1DF-71D2-09CE-7F8A7E3A2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56425"/>
            <a:ext cx="1592263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99">
                    <a:alpha val="3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72" tIns="50287" rIns="100572" bIns="50287">
            <a:spAutoFit/>
          </a:bodyPr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7A9046E9-2A5A-4C2D-2AFB-40A620E8D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6789738"/>
            <a:ext cx="1339850" cy="754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1991" name="AutoShape 10">
            <a:extLst>
              <a:ext uri="{FF2B5EF4-FFF2-40B4-BE49-F238E27FC236}">
                <a16:creationId xmlns:a16="http://schemas.microsoft.com/office/drawing/2014/main" id="{CB068484-6B7E-040E-A517-53B49475D95B}"/>
              </a:ext>
            </a:extLst>
          </p:cNvPr>
          <p:cNvSpPr>
            <a:spLocks/>
          </p:cNvSpPr>
          <p:nvPr/>
        </p:nvSpPr>
        <p:spPr bwMode="auto">
          <a:xfrm>
            <a:off x="8916988" y="3382963"/>
            <a:ext cx="950912" cy="777875"/>
          </a:xfrm>
          <a:prstGeom prst="accentCallout1">
            <a:avLst>
              <a:gd name="adj1" fmla="val 14694"/>
              <a:gd name="adj2" fmla="val -8014"/>
              <a:gd name="adj3" fmla="val 40000"/>
              <a:gd name="adj4" fmla="val -108847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Reuse of business services across applications</a:t>
            </a:r>
          </a:p>
        </p:txBody>
      </p:sp>
      <p:sp>
        <p:nvSpPr>
          <p:cNvPr id="41992" name="AutoShape 11">
            <a:extLst>
              <a:ext uri="{FF2B5EF4-FFF2-40B4-BE49-F238E27FC236}">
                <a16:creationId xmlns:a16="http://schemas.microsoft.com/office/drawing/2014/main" id="{9F8CA8ED-E76B-EE9F-32FF-C29A9B5A7AE9}"/>
              </a:ext>
            </a:extLst>
          </p:cNvPr>
          <p:cNvSpPr>
            <a:spLocks/>
          </p:cNvSpPr>
          <p:nvPr/>
        </p:nvSpPr>
        <p:spPr bwMode="auto">
          <a:xfrm>
            <a:off x="8356600" y="1265238"/>
            <a:ext cx="1501775" cy="585787"/>
          </a:xfrm>
          <a:prstGeom prst="accentCallout1">
            <a:avLst>
              <a:gd name="adj1" fmla="val 19514"/>
              <a:gd name="adj2" fmla="val -5074"/>
              <a:gd name="adj3" fmla="val 116259"/>
              <a:gd name="adj4" fmla="val -71458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Client applications call Service Orchestration Interfaces</a:t>
            </a:r>
          </a:p>
        </p:txBody>
      </p:sp>
      <p:sp>
        <p:nvSpPr>
          <p:cNvPr id="41993" name="AutoShape 9">
            <a:extLst>
              <a:ext uri="{FF2B5EF4-FFF2-40B4-BE49-F238E27FC236}">
                <a16:creationId xmlns:a16="http://schemas.microsoft.com/office/drawing/2014/main" id="{2326207E-ABB0-8EA5-DB7B-FE6A62700D77}"/>
              </a:ext>
            </a:extLst>
          </p:cNvPr>
          <p:cNvSpPr>
            <a:spLocks/>
          </p:cNvSpPr>
          <p:nvPr/>
        </p:nvSpPr>
        <p:spPr bwMode="auto">
          <a:xfrm>
            <a:off x="400050" y="5554663"/>
            <a:ext cx="1241425" cy="754062"/>
          </a:xfrm>
          <a:prstGeom prst="accentCallout1">
            <a:avLst>
              <a:gd name="adj1" fmla="val 15157"/>
              <a:gd name="adj2" fmla="val 106139"/>
              <a:gd name="adj3" fmla="val -63157"/>
              <a:gd name="adj4" fmla="val 318542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True As-of processing capability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52E72-BF28-05C9-041B-5B2387579987}"/>
              </a:ext>
            </a:extLst>
          </p:cNvPr>
          <p:cNvSpPr txBox="1">
            <a:spLocks noGrp="1"/>
          </p:cNvSpPr>
          <p:nvPr/>
        </p:nvSpPr>
        <p:spPr bwMode="black">
          <a:xfrm>
            <a:off x="8958263" y="6872288"/>
            <a:ext cx="412750" cy="37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fld id="{5CA1095F-536A-0741-9466-F7C0DA6FBBDA}" type="slidenum">
              <a:rPr lang="en-US" altLang="zh-TW" sz="700" b="0">
                <a:latin typeface="Frutiger 55 Roman" pitchFamily="34" charset="0"/>
              </a:rPr>
              <a:pPr algn="r"/>
              <a:t>8</a:t>
            </a:fld>
            <a:endParaRPr lang="en-US" altLang="zh-TW" sz="700" b="0">
              <a:latin typeface="Frutiger 55 Roman" pitchFamily="34" charset="0"/>
            </a:endParaRPr>
          </a:p>
        </p:txBody>
      </p:sp>
      <p:sp>
        <p:nvSpPr>
          <p:cNvPr id="41995" name="AutoShape 9">
            <a:extLst>
              <a:ext uri="{FF2B5EF4-FFF2-40B4-BE49-F238E27FC236}">
                <a16:creationId xmlns:a16="http://schemas.microsoft.com/office/drawing/2014/main" id="{43F3184D-9711-23D8-C50A-04C775ED7D1A}"/>
              </a:ext>
            </a:extLst>
          </p:cNvPr>
          <p:cNvSpPr>
            <a:spLocks/>
          </p:cNvSpPr>
          <p:nvPr/>
        </p:nvSpPr>
        <p:spPr bwMode="auto">
          <a:xfrm>
            <a:off x="133350" y="3925888"/>
            <a:ext cx="1241425" cy="754062"/>
          </a:xfrm>
          <a:prstGeom prst="accentCallout1">
            <a:avLst>
              <a:gd name="adj1" fmla="val 16667"/>
              <a:gd name="adj2" fmla="val 105583"/>
              <a:gd name="adj3" fmla="val 81384"/>
              <a:gd name="adj4" fmla="val 176829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Data services for access to  operational data stores</a:t>
            </a:r>
          </a:p>
        </p:txBody>
      </p:sp>
      <p:sp>
        <p:nvSpPr>
          <p:cNvPr id="41996" name="AutoShape 7">
            <a:extLst>
              <a:ext uri="{FF2B5EF4-FFF2-40B4-BE49-F238E27FC236}">
                <a16:creationId xmlns:a16="http://schemas.microsoft.com/office/drawing/2014/main" id="{CF0159A1-72E2-5685-0854-21CD341BCCFE}"/>
              </a:ext>
            </a:extLst>
          </p:cNvPr>
          <p:cNvSpPr>
            <a:spLocks/>
          </p:cNvSpPr>
          <p:nvPr/>
        </p:nvSpPr>
        <p:spPr bwMode="auto">
          <a:xfrm>
            <a:off x="8356600" y="5716588"/>
            <a:ext cx="1501775" cy="587375"/>
          </a:xfrm>
          <a:prstGeom prst="accentCallout1">
            <a:avLst>
              <a:gd name="adj1" fmla="val 19458"/>
              <a:gd name="adj2" fmla="val -5074"/>
              <a:gd name="adj3" fmla="val -103782"/>
              <a:gd name="adj4" fmla="val -253278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Single source of real-time position and balance</a:t>
            </a:r>
          </a:p>
        </p:txBody>
      </p:sp>
      <p:sp>
        <p:nvSpPr>
          <p:cNvPr id="41997" name="AutoShape 7">
            <a:extLst>
              <a:ext uri="{FF2B5EF4-FFF2-40B4-BE49-F238E27FC236}">
                <a16:creationId xmlns:a16="http://schemas.microsoft.com/office/drawing/2014/main" id="{0C82A5F1-4BF0-8519-7703-DC995D795904}"/>
              </a:ext>
            </a:extLst>
          </p:cNvPr>
          <p:cNvSpPr>
            <a:spLocks/>
          </p:cNvSpPr>
          <p:nvPr/>
        </p:nvSpPr>
        <p:spPr bwMode="auto">
          <a:xfrm>
            <a:off x="6670675" y="6450013"/>
            <a:ext cx="1501775" cy="587375"/>
          </a:xfrm>
          <a:prstGeom prst="accentCallout1">
            <a:avLst>
              <a:gd name="adj1" fmla="val 19458"/>
              <a:gd name="adj2" fmla="val -5074"/>
              <a:gd name="adj3" fmla="val -122431"/>
              <a:gd name="adj4" fmla="val -141542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All WMA sub-ledgers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DBA4CCB-C793-57AC-D860-F0DB761420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5163" y="0"/>
            <a:ext cx="8653462" cy="941388"/>
          </a:xfrm>
        </p:spPr>
        <p:txBody>
          <a:bodyPr/>
          <a:lstStyle/>
          <a:p>
            <a:pPr eaLnBrk="1" hangingPunct="1"/>
            <a:r>
              <a:rPr lang="en-US" altLang="en-US" sz="1900"/>
              <a:t>Conceptual Target State (Columbus)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DBBE15F0-AB5E-75C6-5C83-9503258D6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963613"/>
            <a:ext cx="8716963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300">
                <a:solidFill>
                  <a:schemeClr val="bg2"/>
                </a:solidFill>
                <a:latin typeface="Frutiger 55 Roman" pitchFamily="34" charset="0"/>
              </a:rPr>
              <a:t>Implementation of WMA post trade business functions using vendor back office systems. </a:t>
            </a:r>
          </a:p>
        </p:txBody>
      </p:sp>
      <p:sp>
        <p:nvSpPr>
          <p:cNvPr id="44036" name="Text Box 5">
            <a:extLst>
              <a:ext uri="{FF2B5EF4-FFF2-40B4-BE49-F238E27FC236}">
                <a16:creationId xmlns:a16="http://schemas.microsoft.com/office/drawing/2014/main" id="{83D5813F-3E22-1C07-6677-3A5B850AB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56425"/>
            <a:ext cx="1592263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6699">
                    <a:alpha val="3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72" tIns="50287" rIns="100572" bIns="50287">
            <a:spAutoFit/>
          </a:bodyPr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44037" name="Rectangle 6">
            <a:extLst>
              <a:ext uri="{FF2B5EF4-FFF2-40B4-BE49-F238E27FC236}">
                <a16:creationId xmlns:a16="http://schemas.microsoft.com/office/drawing/2014/main" id="{16BEF4F1-8335-F34E-614C-F324CC8D4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6789738"/>
            <a:ext cx="1339850" cy="754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4038" name="AutoShape 10">
            <a:extLst>
              <a:ext uri="{FF2B5EF4-FFF2-40B4-BE49-F238E27FC236}">
                <a16:creationId xmlns:a16="http://schemas.microsoft.com/office/drawing/2014/main" id="{DD3C756E-FD14-5697-C200-FA44209DF080}"/>
              </a:ext>
            </a:extLst>
          </p:cNvPr>
          <p:cNvSpPr>
            <a:spLocks/>
          </p:cNvSpPr>
          <p:nvPr/>
        </p:nvSpPr>
        <p:spPr bwMode="auto">
          <a:xfrm>
            <a:off x="8994775" y="2432050"/>
            <a:ext cx="950913" cy="777875"/>
          </a:xfrm>
          <a:prstGeom prst="accentCallout1">
            <a:avLst>
              <a:gd name="adj1" fmla="val 14694"/>
              <a:gd name="adj2" fmla="val -8014"/>
              <a:gd name="adj3" fmla="val 40000"/>
              <a:gd name="adj4" fmla="val -108847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Reuse of business services across applications</a:t>
            </a:r>
          </a:p>
        </p:txBody>
      </p:sp>
      <p:sp>
        <p:nvSpPr>
          <p:cNvPr id="44039" name="AutoShape 11">
            <a:extLst>
              <a:ext uri="{FF2B5EF4-FFF2-40B4-BE49-F238E27FC236}">
                <a16:creationId xmlns:a16="http://schemas.microsoft.com/office/drawing/2014/main" id="{6151AADA-A482-EBC4-E1C6-07D8D32CC893}"/>
              </a:ext>
            </a:extLst>
          </p:cNvPr>
          <p:cNvSpPr>
            <a:spLocks/>
          </p:cNvSpPr>
          <p:nvPr/>
        </p:nvSpPr>
        <p:spPr bwMode="auto">
          <a:xfrm>
            <a:off x="8356600" y="1265238"/>
            <a:ext cx="1501775" cy="585787"/>
          </a:xfrm>
          <a:prstGeom prst="accentCallout1">
            <a:avLst>
              <a:gd name="adj1" fmla="val 19514"/>
              <a:gd name="adj2" fmla="val -5074"/>
              <a:gd name="adj3" fmla="val 36042"/>
              <a:gd name="adj4" fmla="val -126426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Client applications call Service Orchestration Interfaces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4573F6-92B3-667C-021D-F7C68328BFD7}"/>
              </a:ext>
            </a:extLst>
          </p:cNvPr>
          <p:cNvSpPr txBox="1">
            <a:spLocks noGrp="1"/>
          </p:cNvSpPr>
          <p:nvPr/>
        </p:nvSpPr>
        <p:spPr bwMode="black">
          <a:xfrm>
            <a:off x="8958263" y="6872288"/>
            <a:ext cx="412750" cy="37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/>
          <a:lstStyle>
            <a:lvl1pPr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006475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r"/>
            <a:fld id="{25912479-8B86-F94E-97E4-459F65D5AC75}" type="slidenum">
              <a:rPr lang="en-US" altLang="zh-TW" sz="700" b="0">
                <a:latin typeface="Frutiger 55 Roman" pitchFamily="34" charset="0"/>
              </a:rPr>
              <a:pPr algn="r"/>
              <a:t>9</a:t>
            </a:fld>
            <a:endParaRPr lang="en-US" altLang="zh-TW" sz="700" b="0">
              <a:latin typeface="Frutiger 55 Roman" pitchFamily="34" charset="0"/>
            </a:endParaRPr>
          </a:p>
        </p:txBody>
      </p:sp>
      <p:sp>
        <p:nvSpPr>
          <p:cNvPr id="44041" name="AutoShape 9">
            <a:extLst>
              <a:ext uri="{FF2B5EF4-FFF2-40B4-BE49-F238E27FC236}">
                <a16:creationId xmlns:a16="http://schemas.microsoft.com/office/drawing/2014/main" id="{5FF6796F-6767-29D7-BE1F-9E27B5A49DC2}"/>
              </a:ext>
            </a:extLst>
          </p:cNvPr>
          <p:cNvSpPr>
            <a:spLocks/>
          </p:cNvSpPr>
          <p:nvPr/>
        </p:nvSpPr>
        <p:spPr bwMode="auto">
          <a:xfrm>
            <a:off x="752475" y="1265238"/>
            <a:ext cx="1241425" cy="754062"/>
          </a:xfrm>
          <a:prstGeom prst="accentCallout1">
            <a:avLst>
              <a:gd name="adj1" fmla="val 16667"/>
              <a:gd name="adj2" fmla="val 105583"/>
              <a:gd name="adj3" fmla="val 261597"/>
              <a:gd name="adj4" fmla="val 128745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Data services for access to  operational data stores at WMA and vendor</a:t>
            </a:r>
          </a:p>
        </p:txBody>
      </p:sp>
      <p:sp>
        <p:nvSpPr>
          <p:cNvPr id="44042" name="AutoShape 7">
            <a:extLst>
              <a:ext uri="{FF2B5EF4-FFF2-40B4-BE49-F238E27FC236}">
                <a16:creationId xmlns:a16="http://schemas.microsoft.com/office/drawing/2014/main" id="{954623FD-EDCE-0645-508E-1FECCAF70863}"/>
              </a:ext>
            </a:extLst>
          </p:cNvPr>
          <p:cNvSpPr>
            <a:spLocks/>
          </p:cNvSpPr>
          <p:nvPr/>
        </p:nvSpPr>
        <p:spPr bwMode="auto">
          <a:xfrm>
            <a:off x="3733800" y="6134100"/>
            <a:ext cx="1501775" cy="587375"/>
          </a:xfrm>
          <a:prstGeom prst="accentCallout1">
            <a:avLst>
              <a:gd name="adj1" fmla="val 19458"/>
              <a:gd name="adj2" fmla="val -5074"/>
              <a:gd name="adj3" fmla="val -211889"/>
              <a:gd name="adj4" fmla="val 21565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Single source of real-time position and balance</a:t>
            </a:r>
          </a:p>
        </p:txBody>
      </p:sp>
      <p:sp>
        <p:nvSpPr>
          <p:cNvPr id="44043" name="AutoShape 7">
            <a:extLst>
              <a:ext uri="{FF2B5EF4-FFF2-40B4-BE49-F238E27FC236}">
                <a16:creationId xmlns:a16="http://schemas.microsoft.com/office/drawing/2014/main" id="{753D08AE-7887-ED38-BFA3-AB61319F7020}"/>
              </a:ext>
            </a:extLst>
          </p:cNvPr>
          <p:cNvSpPr>
            <a:spLocks/>
          </p:cNvSpPr>
          <p:nvPr/>
        </p:nvSpPr>
        <p:spPr bwMode="auto">
          <a:xfrm>
            <a:off x="1789113" y="6010275"/>
            <a:ext cx="1501775" cy="587375"/>
          </a:xfrm>
          <a:prstGeom prst="accentCallout1">
            <a:avLst>
              <a:gd name="adj1" fmla="val 19458"/>
              <a:gd name="adj2" fmla="val -5074"/>
              <a:gd name="adj3" fmla="val -128917"/>
              <a:gd name="adj4" fmla="val 25056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All WMA sub-ledgers</a:t>
            </a:r>
          </a:p>
        </p:txBody>
      </p:sp>
      <p:pic>
        <p:nvPicPr>
          <p:cNvPr id="44044" name="Picture 4">
            <a:extLst>
              <a:ext uri="{FF2B5EF4-FFF2-40B4-BE49-F238E27FC236}">
                <a16:creationId xmlns:a16="http://schemas.microsoft.com/office/drawing/2014/main" id="{4CB9011C-ECA3-24ED-76CB-73F7EA3CD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1200150"/>
            <a:ext cx="7258050" cy="464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14F99"/>
                  </a:outerShdw>
                </a:effectLst>
              </a14:hiddenEffects>
            </a:ext>
          </a:extLst>
        </p:spPr>
      </p:pic>
      <p:sp>
        <p:nvSpPr>
          <p:cNvPr id="44045" name="AutoShape 10">
            <a:extLst>
              <a:ext uri="{FF2B5EF4-FFF2-40B4-BE49-F238E27FC236}">
                <a16:creationId xmlns:a16="http://schemas.microsoft.com/office/drawing/2014/main" id="{94AF9668-8476-76F0-D840-BCC4FF2C49EC}"/>
              </a:ext>
            </a:extLst>
          </p:cNvPr>
          <p:cNvSpPr>
            <a:spLocks/>
          </p:cNvSpPr>
          <p:nvPr/>
        </p:nvSpPr>
        <p:spPr bwMode="auto">
          <a:xfrm>
            <a:off x="7567613" y="5564188"/>
            <a:ext cx="950912" cy="1033462"/>
          </a:xfrm>
          <a:prstGeom prst="accentCallout1">
            <a:avLst>
              <a:gd name="adj1" fmla="val 14694"/>
              <a:gd name="adj2" fmla="val -8014"/>
              <a:gd name="adj3" fmla="val -35102"/>
              <a:gd name="adj4" fmla="val -175625"/>
            </a:avLst>
          </a:prstGeom>
          <a:solidFill>
            <a:srgbClr val="92D05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105592" tIns="52797" rIns="105592" bIns="52797" anchor="ctr"/>
          <a:lstStyle>
            <a:lvl1pPr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defTabSz="1104900" eaLnBrk="0" hangingPunct="0"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11049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UBSHeadline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900">
                <a:latin typeface="Frutiger 45 Light" pitchFamily="34" charset="0"/>
                <a:cs typeface="Arial" panose="020B0604020202020204" pitchFamily="34" charset="0"/>
              </a:rPr>
              <a:t>ACATs, Corporate Actions, Clearance and Settlement etc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PATHNAME" val=" "/>
  <p:tag name="KEYWORDS" val="C:\Program Files\Ubs\PresXpress\templates\PresPrintOnScreen.pot"/>
  <p:tag name="FDSMENUDOCLEVELBTNSTATES" val="&lt;btnStates&gt;&lt;btn tag=&quot;1001&quot; state=&quot;UP&quot;/&gt;&lt;/btnStates&gt;&#10;"/>
  <p:tag name="LAST PRINTED" val="403113906250000E-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Yn4X4_PuUqR.jST0XoGL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3BkyUgbIkuX7ZvMFH4jE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HIN BLUE LINE"/>
  <p:tag name="THINKCELLSHAPEDONOTDELETE" val="pHUNkyFmCU06Bc.I92rWjR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UBS LOGO"/>
  <p:tag name="TOP" val="550.375"/>
  <p:tag name="LEFT" val="35.375"/>
  <p:tag name="WIDTH" val="62.75"/>
  <p:tag name="HEIGHT" val="24"/>
  <p:tag name="THINKCELLSHAPEDONOTDELETE" val="pHp84mFlg20mUBQLbzD31k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169"/>
  <p:tag name="LTOP" val=" 530.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COVER BLUE BOX"/>
  <p:tag name="TOP" val="133.5"/>
  <p:tag name="LEFT" val="28.75"/>
  <p:tag name="WIDTH" val="602.625"/>
  <p:tag name="HEIGHT" val="223.875"/>
  <p:tag name="THINKCELLSHAPEDONOTDELETE" val="pZmbh8dNIgUWeItENR_Rx8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UBS LOGO"/>
  <p:tag name="TOP" val="15.125"/>
  <p:tag name="LEFT" val="29.25"/>
  <p:tag name="WIDTH" val="73.25"/>
  <p:tag name="HEIGHT" val="28"/>
  <p:tag name="THINKCELLSHAPEDONOTDELETE" val="pNlicZvSS60yq.xlFir8nf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85.875"/>
  <p:tag name="LEFT" val="59.25"/>
  <p:tag name="WIDTH" val="542"/>
  <p:tag name="HEIGHT" val="0.125"/>
  <p:tag name="THINKCELLSHAPEDONOTDELETE" val="pEY8Q6A8L60u5n3SjrDA6V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PAGE HEADING"/>
  <p:tag name="FONT STYLE" val="SERI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HIN BLUE LIN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OCUMENT ID"/>
  <p:tag name="FONT STYLE" val="SANS SERI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UBS LOGO"/>
  <p:tag name="TOP" val="550.375"/>
  <p:tag name="LEFT" val="33.75"/>
  <p:tag name="WIDTH" val="62.75"/>
  <p:tag name="HEIGHT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LUE LIN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UBS LOGO"/>
  <p:tag name="TOP" val="550.375"/>
  <p:tag name="LEFT" val="33.75"/>
  <p:tag name="WIDTH" val="62.75"/>
  <p:tag name="HEIGHT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COV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COVER BLUE BOX"/>
  <p:tag name="TOP" val="133.5"/>
  <p:tag name="LEFT" val="28.75"/>
  <p:tag name="WIDTH" val="602.625"/>
  <p:tag name="HEIGHT" val="223.8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"/>
  <p:tag name="TEXT_TYPE" val="PRESENTATION TITLE"/>
  <p:tag name="TOP" val="152.25"/>
  <p:tag name="LEFT" val="59.25"/>
  <p:tag name="WIDTH" val="549.75"/>
  <p:tag name="HEIGHT" val="118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CREATE DATE"/>
  <p:tag name="FONT STYLE" val="SANS SERIF"/>
  <p:tag name="TOP" val="548.875"/>
  <p:tag name="LEFT" val="60.5"/>
  <p:tag name="WIDTH" val="281.375"/>
  <p:tag name="HEIGHT" val="21.6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"/>
  <p:tag name="TEXT_TYPE" val="PRESENTATION SUBTITLE"/>
  <p:tag name="TOP" val="302.25"/>
  <p:tag name="LEFT" val="59.25"/>
  <p:tag name="WIDTH" val="550"/>
  <p:tag name="HEIGHT" val="28.7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85.875"/>
  <p:tag name="LEFT" val="59.25"/>
  <p:tag name="WIDTH" val="542"/>
  <p:tag name="HEIGHT" val="0.12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ERIF"/>
  <p:tag name="TEXT_TYPE" val="PAGE HEAD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BODY TEXT"/>
  <p:tag name="FONT STYLE" val="SANS SERIF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_TYPE" val="DIVIDER"/>
  <p:tag name="SLIDE_SUB_TYPE" val="SECTIO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DIVIDER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 STYLE" val="SANS SERIF"/>
</p:tagLst>
</file>

<file path=ppt/theme/theme1.xml><?xml version="1.0" encoding="utf-8"?>
<a:theme xmlns:a="http://schemas.openxmlformats.org/drawingml/2006/main" name="1_Blank">
  <a:themeElements>
    <a:clrScheme name="1_Blank 12">
      <a:dk1>
        <a:srgbClr val="000000"/>
      </a:dk1>
      <a:lt1>
        <a:srgbClr val="FFFFFF"/>
      </a:lt1>
      <a:dk2>
        <a:srgbClr val="193D85"/>
      </a:dk2>
      <a:lt2>
        <a:srgbClr val="3783FF"/>
      </a:lt2>
      <a:accent1>
        <a:srgbClr val="3783FF"/>
      </a:accent1>
      <a:accent2>
        <a:srgbClr val="FAA100"/>
      </a:accent2>
      <a:accent3>
        <a:srgbClr val="FFFFFF"/>
      </a:accent3>
      <a:accent4>
        <a:srgbClr val="000000"/>
      </a:accent4>
      <a:accent5>
        <a:srgbClr val="AEC1FF"/>
      </a:accent5>
      <a:accent6>
        <a:srgbClr val="E39100"/>
      </a:accent6>
      <a:hlink>
        <a:srgbClr val="007E35"/>
      </a:hlink>
      <a:folHlink>
        <a:srgbClr val="969696"/>
      </a:folHlink>
    </a:clrScheme>
    <a:fontScheme name="1_Blank">
      <a:majorFont>
        <a:latin typeface="UBSHeadline"/>
        <a:ea typeface=""/>
        <a:cs typeface="Arial"/>
      </a:majorFont>
      <a:minorFont>
        <a:latin typeface="Frutiger 55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prstShdw prst="shdw17" dist="17961" dir="2700000">
            <a:srgbClr val="FFFFFF">
              <a:gamma/>
              <a:shade val="60000"/>
              <a:invGamma/>
            </a:srgbClr>
          </a:prstShdw>
        </a:effectLst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699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UBSHeadline" pitchFamily="18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prstShdw prst="shdw17" dist="17961" dir="2700000">
            <a:srgbClr val="FFFFFF">
              <a:gamma/>
              <a:shade val="60000"/>
              <a:invGamma/>
            </a:srgbClr>
          </a:prstShdw>
        </a:effectLst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699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UBSHeadline" pitchFamily="18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1_Blank 1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2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56AC"/>
        </a:accent1>
        <a:accent2>
          <a:srgbClr val="0999F3"/>
        </a:accent2>
        <a:accent3>
          <a:srgbClr val="AAACB6"/>
        </a:accent3>
        <a:accent4>
          <a:srgbClr val="DADADA"/>
        </a:accent4>
        <a:accent5>
          <a:srgbClr val="AAB4D2"/>
        </a:accent5>
        <a:accent6>
          <a:srgbClr val="078ADC"/>
        </a:accent6>
        <a:hlink>
          <a:srgbClr val="96C5F8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3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2960"/>
        </a:accent1>
        <a:accent2>
          <a:srgbClr val="0066CC"/>
        </a:accent2>
        <a:accent3>
          <a:srgbClr val="AAAAAA"/>
        </a:accent3>
        <a:accent4>
          <a:srgbClr val="DADADA"/>
        </a:accent4>
        <a:accent5>
          <a:srgbClr val="AAACB6"/>
        </a:accent5>
        <a:accent6>
          <a:srgbClr val="005CB9"/>
        </a:accent6>
        <a:hlink>
          <a:srgbClr val="91B0FF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4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E7B95C"/>
        </a:accent6>
        <a:hlink>
          <a:srgbClr val="4F863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5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6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AAA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7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8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0A2A0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9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174A7C"/>
        </a:accent1>
        <a:accent2>
          <a:srgbClr val="50A2A0"/>
        </a:accent2>
        <a:accent3>
          <a:srgbClr val="AAAAAA"/>
        </a:accent3>
        <a:accent4>
          <a:srgbClr val="DADADA"/>
        </a:accent4>
        <a:accent5>
          <a:srgbClr val="ABB1BF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10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1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C8C8C8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5B5B5"/>
        </a:accent6>
        <a:hlink>
          <a:srgbClr val="909090"/>
        </a:hlink>
        <a:folHlink>
          <a:srgbClr val="4242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12">
        <a:dk1>
          <a:srgbClr val="000000"/>
        </a:dk1>
        <a:lt1>
          <a:srgbClr val="FFFFFF"/>
        </a:lt1>
        <a:dk2>
          <a:srgbClr val="193D85"/>
        </a:dk2>
        <a:lt2>
          <a:srgbClr val="3783FF"/>
        </a:lt2>
        <a:accent1>
          <a:srgbClr val="3783FF"/>
        </a:accent1>
        <a:accent2>
          <a:srgbClr val="FAA100"/>
        </a:accent2>
        <a:accent3>
          <a:srgbClr val="FFFFFF"/>
        </a:accent3>
        <a:accent4>
          <a:srgbClr val="000000"/>
        </a:accent4>
        <a:accent5>
          <a:srgbClr val="AEC1FF"/>
        </a:accent5>
        <a:accent6>
          <a:srgbClr val="E39100"/>
        </a:accent6>
        <a:hlink>
          <a:srgbClr val="007E35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0_Default Design">
  <a:themeElements>
    <a:clrScheme name="10_Default Design 1">
      <a:dk1>
        <a:srgbClr val="000000"/>
      </a:dk1>
      <a:lt1>
        <a:srgbClr val="FFFFFF"/>
      </a:lt1>
      <a:dk2>
        <a:srgbClr val="193D85"/>
      </a:dk2>
      <a:lt2>
        <a:srgbClr val="3783FF"/>
      </a:lt2>
      <a:accent1>
        <a:srgbClr val="3783FF"/>
      </a:accent1>
      <a:accent2>
        <a:srgbClr val="FAA100"/>
      </a:accent2>
      <a:accent3>
        <a:srgbClr val="FFFFFF"/>
      </a:accent3>
      <a:accent4>
        <a:srgbClr val="000000"/>
      </a:accent4>
      <a:accent5>
        <a:srgbClr val="AEC1FF"/>
      </a:accent5>
      <a:accent6>
        <a:srgbClr val="E39100"/>
      </a:accent6>
      <a:hlink>
        <a:srgbClr val="007E35"/>
      </a:hlink>
      <a:folHlink>
        <a:srgbClr val="969696"/>
      </a:folHlink>
    </a:clrScheme>
    <a:fontScheme name="10_Default Design">
      <a:majorFont>
        <a:latin typeface="UBSHeadline"/>
        <a:ea typeface="Arial Unicode MS"/>
        <a:cs typeface="Arial"/>
      </a:majorFont>
      <a:minorFont>
        <a:latin typeface="Frutiger 55 Roman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prstShdw prst="shdw17" dist="17961" dir="2700000">
            <a:srgbClr val="FFFFFF">
              <a:gamma/>
              <a:shade val="60000"/>
              <a:invGamma/>
            </a:srgbClr>
          </a:prstShdw>
        </a:effectLst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699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UBSHeadline" pitchFamily="18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prstShdw prst="shdw17" dist="17961" dir="2700000">
            <a:srgbClr val="FFFFFF">
              <a:gamma/>
              <a:shade val="60000"/>
              <a:invGamma/>
            </a:srgbClr>
          </a:prstShdw>
        </a:effectLst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699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UBSHeadline" pitchFamily="18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10_Default Design 1">
        <a:dk1>
          <a:srgbClr val="000000"/>
        </a:dk1>
        <a:lt1>
          <a:srgbClr val="FFFFFF"/>
        </a:lt1>
        <a:dk2>
          <a:srgbClr val="193D85"/>
        </a:dk2>
        <a:lt2>
          <a:srgbClr val="3783FF"/>
        </a:lt2>
        <a:accent1>
          <a:srgbClr val="3783FF"/>
        </a:accent1>
        <a:accent2>
          <a:srgbClr val="FAA100"/>
        </a:accent2>
        <a:accent3>
          <a:srgbClr val="FFFFFF"/>
        </a:accent3>
        <a:accent4>
          <a:srgbClr val="000000"/>
        </a:accent4>
        <a:accent5>
          <a:srgbClr val="AEC1FF"/>
        </a:accent5>
        <a:accent6>
          <a:srgbClr val="E39100"/>
        </a:accent6>
        <a:hlink>
          <a:srgbClr val="007E35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3783FF"/>
      </a:dk2>
      <a:lt2>
        <a:srgbClr val="295595"/>
      </a:lt2>
      <a:accent1>
        <a:srgbClr val="295595"/>
      </a:accent1>
      <a:accent2>
        <a:srgbClr val="FFFFFF"/>
      </a:accent2>
      <a:accent3>
        <a:srgbClr val="FFFFFF"/>
      </a:accent3>
      <a:accent4>
        <a:srgbClr val="000000"/>
      </a:accent4>
      <a:accent5>
        <a:srgbClr val="ACB4C8"/>
      </a:accent5>
      <a:accent6>
        <a:srgbClr val="E7E7E7"/>
      </a:accent6>
      <a:hlink>
        <a:srgbClr val="000000"/>
      </a:hlink>
      <a:folHlink>
        <a:srgbClr val="DDF2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1329</Words>
  <Application>Microsoft Macintosh PowerPoint</Application>
  <PresentationFormat>Custom</PresentationFormat>
  <Paragraphs>278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UBSHeadline</vt:lpstr>
      <vt:lpstr>Arial Unicode MS</vt:lpstr>
      <vt:lpstr>Arial</vt:lpstr>
      <vt:lpstr>Frutiger 55 Roman</vt:lpstr>
      <vt:lpstr>Symbol</vt:lpstr>
      <vt:lpstr>Times New Roman</vt:lpstr>
      <vt:lpstr>PMingLiU</vt:lpstr>
      <vt:lpstr>Frutiger 45 Light</vt:lpstr>
      <vt:lpstr>1_Blank</vt:lpstr>
      <vt:lpstr>10_Default Design</vt:lpstr>
      <vt:lpstr>think-cell Slide</vt:lpstr>
      <vt:lpstr>WMA IT CTO Review</vt:lpstr>
      <vt:lpstr>Agenda</vt:lpstr>
      <vt:lpstr>PowerPoint Presentation</vt:lpstr>
      <vt:lpstr>Post Trade Services – Operational Position Keeping Overview</vt:lpstr>
      <vt:lpstr>Post Trade Services – Operational Position Keeping Overview</vt:lpstr>
      <vt:lpstr>Current State vs. Target State (Conceptual)</vt:lpstr>
      <vt:lpstr>Target State Architecture Flow (Implementation Option 1)</vt:lpstr>
      <vt:lpstr>Target State Architecture Flow (Implementation Option 2)</vt:lpstr>
      <vt:lpstr>Conceptual Target State (Enhance Existing Systems)</vt:lpstr>
      <vt:lpstr>Conceptual Target State (Columbus)</vt:lpstr>
    </vt:vector>
  </TitlesOfParts>
  <Company>UBS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&lt;&lt;Presentation Title&gt;&gt;</dc:title>
  <dc:creator>hakan.altintepe</dc:creator>
  <cp:keywords>&lt;&lt;Not saved&gt;&gt;</cp:keywords>
  <cp:lastModifiedBy>Manuel Barbero</cp:lastModifiedBy>
  <cp:revision>1241</cp:revision>
  <cp:lastPrinted>2010-05-13T08:24:12Z</cp:lastPrinted>
  <dcterms:created xsi:type="dcterms:W3CDTF">2002-05-03T03:00:09Z</dcterms:created>
  <dcterms:modified xsi:type="dcterms:W3CDTF">2026-03-10T17:51:16Z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ction-T">
    <vt:lpwstr>SECTION</vt:lpwstr>
  </property>
  <property fmtid="{D5CDD505-2E9C-101B-9397-08002B2CF9AE}" pid="3" name="Appendix-T">
    <vt:lpwstr>APPENDIX</vt:lpwstr>
  </property>
  <property fmtid="{D5CDD505-2E9C-101B-9397-08002B2CF9AE}" pid="4" name="DividerTitle-T">
    <vt:lpwstr>&lt;&lt;Divider Title&gt;&gt;</vt:lpwstr>
  </property>
  <property fmtid="{D5CDD505-2E9C-101B-9397-08002B2CF9AE}" pid="5" name="split-s">
    <vt:lpwstr>0</vt:lpwstr>
  </property>
  <property fmtid="{D5CDD505-2E9C-101B-9397-08002B2CF9AE}" pid="6" name="split-a">
    <vt:lpwstr>0</vt:lpwstr>
  </property>
  <property fmtid="{D5CDD505-2E9C-101B-9397-08002B2CF9AE}" pid="7" name="Month-T">
    <vt:lpwstr> </vt:lpwstr>
  </property>
  <property fmtid="{D5CDD505-2E9C-101B-9397-08002B2CF9AE}" pid="8" name="Private-T">
    <vt:lpwstr>Private</vt:lpwstr>
  </property>
  <property fmtid="{D5CDD505-2E9C-101B-9397-08002B2CF9AE}" pid="9" name="TableOfContents-T">
    <vt:lpwstr>Table of Contents</vt:lpwstr>
  </property>
  <property fmtid="{D5CDD505-2E9C-101B-9397-08002B2CF9AE}" pid="10" name="Quote-T">
    <vt:lpwstr>&lt;&lt;Quote&gt;&gt;</vt:lpwstr>
  </property>
  <property fmtid="{D5CDD505-2E9C-101B-9397-08002B2CF9AE}" pid="11" name="Logo-T">
    <vt:lpwstr>&lt;&lt;Logo&gt;&gt;</vt:lpwstr>
  </property>
  <property fmtid="{D5CDD505-2E9C-101B-9397-08002B2CF9AE}" pid="12" name="Amount_DealType-T">
    <vt:lpwstr>Amount Deal Type</vt:lpwstr>
  </property>
  <property fmtid="{D5CDD505-2E9C-101B-9397-08002B2CF9AE}" pid="13" name="PresentationTitle-T">
    <vt:lpwstr>&lt;&lt;Presentation Title&gt;&gt;</vt:lpwstr>
  </property>
  <property fmtid="{D5CDD505-2E9C-101B-9397-08002B2CF9AE}" pid="14" name="PresentationSubTitle-T">
    <vt:lpwstr>&lt;&lt;Presentation Subtitle&gt;&gt;</vt:lpwstr>
  </property>
  <property fmtid="{D5CDD505-2E9C-101B-9397-08002B2CF9AE}" pid="15" name="PageHeading-T">
    <vt:lpwstr>&lt;&lt;Page Heading&gt;&gt;</vt:lpwstr>
  </property>
  <property fmtid="{D5CDD505-2E9C-101B-9397-08002B2CF9AE}" pid="16" name="MessageText-T">
    <vt:lpwstr>&lt;&lt;Message&gt;&gt;</vt:lpwstr>
  </property>
  <property fmtid="{D5CDD505-2E9C-101B-9397-08002B2CF9AE}" pid="17" name="Security-T">
    <vt:lpwstr>STRICTLY CONFIDENTIAL</vt:lpwstr>
  </property>
  <property fmtid="{D5CDD505-2E9C-101B-9397-08002B2CF9AE}" pid="18" name="ContactInformation-T">
    <vt:lpwstr>Contact Information</vt:lpwstr>
  </property>
  <property fmtid="{D5CDD505-2E9C-101B-9397-08002B2CF9AE}" pid="19" name="Appendices-T">
    <vt:lpwstr>Appendices</vt:lpwstr>
  </property>
  <property fmtid="{D5CDD505-2E9C-101B-9397-08002B2CF9AE}" pid="20" name="AwardTitle-T">
    <vt:lpwstr>&lt;&lt;Award Title&gt;&gt;</vt:lpwstr>
  </property>
  <property fmtid="{D5CDD505-2E9C-101B-9397-08002B2CF9AE}" pid="21" name="AwardSubTitle-T">
    <vt:lpwstr>&lt;&lt;Award Subtitle&gt;&gt;</vt:lpwstr>
  </property>
  <property fmtid="{D5CDD505-2E9C-101B-9397-08002B2CF9AE}" pid="22" name="BiographicalDetails-T">
    <vt:lpwstr>&lt;&lt;Biographical Details&gt;&gt;</vt:lpwstr>
  </property>
  <property fmtid="{D5CDD505-2E9C-101B-9397-08002B2CF9AE}" pid="23" name="Conclusion-T">
    <vt:lpwstr>&lt;&lt;Conclusion&gt;&gt;</vt:lpwstr>
  </property>
  <property fmtid="{D5CDD505-2E9C-101B-9397-08002B2CF9AE}" pid="24" name="Continued-T">
    <vt:lpwstr>Continued</vt:lpwstr>
  </property>
  <property fmtid="{D5CDD505-2E9C-101B-9397-08002B2CF9AE}" pid="25" name="Draft-T">
    <vt:lpwstr>DRAFT</vt:lpwstr>
  </property>
  <property fmtid="{D5CDD505-2E9C-101B-9397-08002B2CF9AE}" pid="26" name="LayoutHeading-T">
    <vt:lpwstr>&lt;&lt;Layout Heading&gt;&gt;</vt:lpwstr>
  </property>
  <property fmtid="{D5CDD505-2E9C-101B-9397-08002B2CF9AE}" pid="27" name="Name-T">
    <vt:lpwstr>&lt;&lt;Name&gt;&gt;</vt:lpwstr>
  </property>
  <property fmtid="{D5CDD505-2E9C-101B-9397-08002B2CF9AE}" pid="28" name="Notes-T">
    <vt:lpwstr>Notes</vt:lpwstr>
  </property>
  <property fmtid="{D5CDD505-2E9C-101B-9397-08002B2CF9AE}" pid="29" name="QuoteSource-T">
    <vt:lpwstr>&lt;&lt;Quote Source&gt;&gt;</vt:lpwstr>
  </property>
  <property fmtid="{D5CDD505-2E9C-101B-9397-08002B2CF9AE}" pid="30" name="Sections-T">
    <vt:lpwstr>Sections</vt:lpwstr>
  </property>
  <property fmtid="{D5CDD505-2E9C-101B-9397-08002B2CF9AE}" pid="31" name="Source-T">
    <vt:lpwstr>Source</vt:lpwstr>
  </property>
  <property fmtid="{D5CDD505-2E9C-101B-9397-08002B2CF9AE}" pid="32" name="Subappendix-T">
    <vt:lpwstr>Subappendix</vt:lpwstr>
  </property>
  <property fmtid="{D5CDD505-2E9C-101B-9397-08002B2CF9AE}" pid="33" name="Subsection-T">
    <vt:lpwstr>Subsection</vt:lpwstr>
  </property>
  <property fmtid="{D5CDD505-2E9C-101B-9397-08002B2CF9AE}" pid="34" name="Subsubappendix-T">
    <vt:lpwstr>Subsubappendix</vt:lpwstr>
  </property>
  <property fmtid="{D5CDD505-2E9C-101B-9397-08002B2CF9AE}" pid="35" name="Subsubsection-T">
    <vt:lpwstr>Subsubsection</vt:lpwstr>
  </property>
  <property fmtid="{D5CDD505-2E9C-101B-9397-08002B2CF9AE}" pid="36" name="Title-T">
    <vt:lpwstr>&lt;&lt;Title&gt;&gt;</vt:lpwstr>
  </property>
  <property fmtid="{D5CDD505-2E9C-101B-9397-08002B2CF9AE}" pid="37" name="PresPrintTemplate">
    <vt:bool>true</vt:bool>
  </property>
  <property fmtid="{D5CDD505-2E9C-101B-9397-08002B2CF9AE}" pid="38" name="Address-T">
    <vt:lpwstr>&lt;&lt;Address&gt;&gt;</vt:lpwstr>
  </property>
  <property fmtid="{D5CDD505-2E9C-101B-9397-08002B2CF9AE}" pid="39" name="Average-T">
    <vt:lpwstr>Average</vt:lpwstr>
  </property>
  <property fmtid="{D5CDD505-2E9C-101B-9397-08002B2CF9AE}" pid="40" name="AmountDealType-T">
    <vt:lpwstr>&lt;&lt;Amt./deal-Type&gt;&gt;</vt:lpwstr>
  </property>
  <property fmtid="{D5CDD505-2E9C-101B-9397-08002B2CF9AE}" pid="41" name="ContactDetails-T">
    <vt:lpwstr>&lt;&lt;Contact Details&gt;&gt;</vt:lpwstr>
  </property>
  <property fmtid="{D5CDD505-2E9C-101B-9397-08002B2CF9AE}" pid="42" name="ContactName-T">
    <vt:lpwstr>&lt;&lt;Contact Name&gt;&gt;</vt:lpwstr>
  </property>
  <property fmtid="{D5CDD505-2E9C-101B-9397-08002B2CF9AE}" pid="43" name="Date-T">
    <vt:lpwstr>&lt;&lt;Date&gt;&gt;</vt:lpwstr>
  </property>
  <property fmtid="{D5CDD505-2E9C-101B-9397-08002B2CF9AE}" pid="44" name="EMailAddress-T">
    <vt:lpwstr>&lt;&lt;Email Address&gt;&gt;</vt:lpwstr>
  </property>
  <property fmtid="{D5CDD505-2E9C-101B-9397-08002B2CF9AE}" pid="45" name="LegalEntity-T">
    <vt:lpwstr>&lt;&lt;Legal Entity&gt;&gt;</vt:lpwstr>
  </property>
  <property fmtid="{D5CDD505-2E9C-101B-9397-08002B2CF9AE}" pid="46" name="Summary-T">
    <vt:lpwstr>&lt;&lt;Summary&gt;&gt;</vt:lpwstr>
  </property>
  <property fmtid="{D5CDD505-2E9C-101B-9397-08002B2CF9AE}" pid="47" name="TableHeading-T">
    <vt:lpwstr>&lt;&lt;Table Heading&gt;&gt;</vt:lpwstr>
  </property>
  <property fmtid="{D5CDD505-2E9C-101B-9397-08002B2CF9AE}" pid="48" name="TableSubheading-T">
    <vt:lpwstr>&lt;&lt;Table Subheading&gt;&gt;</vt:lpwstr>
  </property>
  <property fmtid="{D5CDD505-2E9C-101B-9397-08002B2CF9AE}" pid="49" name="TelephoneNumber-T">
    <vt:lpwstr>&lt;&lt;Telephone Number&gt;&gt;</vt:lpwstr>
  </property>
  <property fmtid="{D5CDD505-2E9C-101B-9397-08002B2CF9AE}" pid="50" name="Text-T">
    <vt:lpwstr>&lt;&lt;Text&gt;&gt;</vt:lpwstr>
  </property>
  <property fmtid="{D5CDD505-2E9C-101B-9397-08002B2CF9AE}" pid="51" name="WebAddress-T">
    <vt:lpwstr>&lt;&lt;Web Address</vt:lpwstr>
  </property>
  <property fmtid="{D5CDD505-2E9C-101B-9397-08002B2CF9AE}" pid="52" name="Year-T">
    <vt:lpwstr>&lt;&lt;Year&gt;&gt;</vt:lpwstr>
  </property>
  <property fmtid="{D5CDD505-2E9C-101B-9397-08002B2CF9AE}" pid="53" name="DateFormat-T">
    <vt:lpwstr>MM/DD/YY H:MM</vt:lpwstr>
  </property>
  <property fmtid="{D5CDD505-2E9C-101B-9397-08002B2CF9AE}" pid="54" name="FullPathName">
    <vt:lpwstr> </vt:lpwstr>
  </property>
  <property fmtid="{D5CDD505-2E9C-101B-9397-08002B2CF9AE}" pid="55" name="Keywords">
    <vt:lpwstr>C:\DPS NEW\Pres\PPT\PresPrintOnScreen.pot</vt:lpwstr>
  </property>
  <property fmtid="{D5CDD505-2E9C-101B-9397-08002B2CF9AE}" pid="56" name="CurrentAddinVersion">
    <vt:lpwstr>2.4.00</vt:lpwstr>
  </property>
  <property fmtid="{D5CDD505-2E9C-101B-9397-08002B2CF9AE}" pid="57" name="JapanCalendar">
    <vt:lpwstr>年</vt:lpwstr>
  </property>
  <property fmtid="{D5CDD505-2E9C-101B-9397-08002B2CF9AE}" pid="58" name="PresPrintOnScreen">
    <vt:bool>true</vt:bool>
  </property>
  <property fmtid="{D5CDD505-2E9C-101B-9397-08002B2CF9AE}" pid="59" name="Language">
    <vt:lpwstr>1033</vt:lpwstr>
  </property>
  <property fmtid="{D5CDD505-2E9C-101B-9397-08002B2CF9AE}" pid="60" name="CreatedAddinVersion">
    <vt:lpwstr>2.4.00</vt:lpwstr>
  </property>
  <property fmtid="{D5CDD505-2E9C-101B-9397-08002B2CF9AE}" pid="61" name="CreatedTemplateVersion">
    <vt:lpwstr>2.4.00</vt:lpwstr>
  </property>
  <property fmtid="{D5CDD505-2E9C-101B-9397-08002B2CF9AE}" pid="62" name="CreateDate">
    <vt:lpwstr>9/18/2009 3:12:00 PM</vt:lpwstr>
  </property>
  <property fmtid="{D5CDD505-2E9C-101B-9397-08002B2CF9AE}" pid="63" name="CoverLogoIncluded">
    <vt:lpwstr>True</vt:lpwstr>
  </property>
  <property fmtid="{D5CDD505-2E9C-101B-9397-08002B2CF9AE}" pid="64" name="CoverLogoID">
    <vt:lpwstr>plain_co_w4</vt:lpwstr>
  </property>
  <property fmtid="{D5CDD505-2E9C-101B-9397-08002B2CF9AE}" pid="65" name="InsideLogoIncluded">
    <vt:lpwstr>True</vt:lpwstr>
  </property>
  <property fmtid="{D5CDD505-2E9C-101B-9397-08002B2CF9AE}" pid="66" name="InsideLogoID">
    <vt:lpwstr>plain_co_w4</vt:lpwstr>
  </property>
  <property fmtid="{D5CDD505-2E9C-101B-9397-08002B2CF9AE}" pid="67" name="IncludeID.Ppt">
    <vt:lpwstr>False</vt:lpwstr>
  </property>
  <property fmtid="{D5CDD505-2E9C-101B-9397-08002B2CF9AE}" pid="68" name="IDStampItems">
    <vt:lpwstr>15</vt:lpwstr>
  </property>
  <property fmtid="{D5CDD505-2E9C-101B-9397-08002B2CF9AE}" pid="69" name="DraftStamp.Ppt">
    <vt:lpwstr>True</vt:lpwstr>
  </property>
  <property fmtid="{D5CDD505-2E9C-101B-9397-08002B2CF9AE}" pid="70" name="TOC.Ppt">
    <vt:lpwstr>True</vt:lpwstr>
  </property>
  <property fmtid="{D5CDD505-2E9C-101B-9397-08002B2CF9AE}" pid="71" name="TocSecLevel1">
    <vt:lpwstr>1</vt:lpwstr>
  </property>
  <property fmtid="{D5CDD505-2E9C-101B-9397-08002B2CF9AE}" pid="72" name="TocSecLevel2">
    <vt:lpwstr>2</vt:lpwstr>
  </property>
  <property fmtid="{D5CDD505-2E9C-101B-9397-08002B2CF9AE}" pid="73" name="TocSecLevel3">
    <vt:lpwstr>3</vt:lpwstr>
  </property>
  <property fmtid="{D5CDD505-2E9C-101B-9397-08002B2CF9AE}" pid="74" name="TocApdxLevel1">
    <vt:lpwstr>4</vt:lpwstr>
  </property>
  <property fmtid="{D5CDD505-2E9C-101B-9397-08002B2CF9AE}" pid="75" name="TocApdxLevel2">
    <vt:lpwstr>5</vt:lpwstr>
  </property>
  <property fmtid="{D5CDD505-2E9C-101B-9397-08002B2CF9AE}" pid="76" name="TocApdxLevel3">
    <vt:lpwstr>6</vt:lpwstr>
  </property>
  <property fmtid="{D5CDD505-2E9C-101B-9397-08002B2CF9AE}" pid="77" name="SPageNumbering1.Ppt">
    <vt:lpwstr>True</vt:lpwstr>
  </property>
  <property fmtid="{D5CDD505-2E9C-101B-9397-08002B2CF9AE}" pid="78" name="SPageNumbering2.Ppt">
    <vt:lpwstr>False</vt:lpwstr>
  </property>
  <property fmtid="{D5CDD505-2E9C-101B-9397-08002B2CF9AE}" pid="79" name="SPageNumbering3.Ppt">
    <vt:lpwstr>False</vt:lpwstr>
  </property>
  <property fmtid="{D5CDD505-2E9C-101B-9397-08002B2CF9AE}" pid="80" name="APageNumbering1.Ppt">
    <vt:lpwstr>True</vt:lpwstr>
  </property>
  <property fmtid="{D5CDD505-2E9C-101B-9397-08002B2CF9AE}" pid="81" name="APageNumbering2.Ppt">
    <vt:lpwstr>False</vt:lpwstr>
  </property>
  <property fmtid="{D5CDD505-2E9C-101B-9397-08002B2CF9AE}" pid="82" name="APageNumbering3.Ppt">
    <vt:lpwstr>False</vt:lpwstr>
  </property>
  <property fmtid="{D5CDD505-2E9C-101B-9397-08002B2CF9AE}" pid="83" name="ContactPage.Ppt">
    <vt:lpwstr>True</vt:lpwstr>
  </property>
  <property fmtid="{D5CDD505-2E9C-101B-9397-08002B2CF9AE}" pid="84" name="CompanyName">
    <vt:lpwstr/>
  </property>
  <property fmtid="{D5CDD505-2E9C-101B-9397-08002B2CF9AE}" pid="85" name="CompanyNameExtension">
    <vt:lpwstr/>
  </property>
  <property fmtid="{D5CDD505-2E9C-101B-9397-08002B2CF9AE}" pid="86" name="CompanyDescriptor">
    <vt:lpwstr/>
  </property>
  <property fmtid="{D5CDD505-2E9C-101B-9397-08002B2CF9AE}" pid="87" name="CompanyType">
    <vt:lpwstr>0</vt:lpwstr>
  </property>
  <property fmtid="{D5CDD505-2E9C-101B-9397-08002B2CF9AE}" pid="88" name="BusinessUnit">
    <vt:lpwstr>1</vt:lpwstr>
  </property>
  <property fmtid="{D5CDD505-2E9C-101B-9397-08002B2CF9AE}" pid="89" name="Address.Office">
    <vt:lpwstr/>
  </property>
  <property fmtid="{D5CDD505-2E9C-101B-9397-08002B2CF9AE}" pid="90" name="Fax1.Office">
    <vt:lpwstr/>
  </property>
  <property fmtid="{D5CDD505-2E9C-101B-9397-08002B2CF9AE}" pid="91" name="Phone1.Office">
    <vt:lpwstr/>
  </property>
  <property fmtid="{D5CDD505-2E9C-101B-9397-08002B2CF9AE}" pid="92" name="CompanyID">
    <vt:lpwstr/>
  </property>
  <property fmtid="{D5CDD505-2E9C-101B-9397-08002B2CF9AE}" pid="93" name="CompanyLCID">
    <vt:lpwstr>0</vt:lpwstr>
  </property>
  <property fmtid="{D5CDD505-2E9C-101B-9397-08002B2CF9AE}" pid="94" name="AuthorInfoIncluded">
    <vt:lpwstr>False</vt:lpwstr>
  </property>
  <property fmtid="{D5CDD505-2E9C-101B-9397-08002B2CF9AE}" pid="95" name="AuthorInfoName">
    <vt:lpwstr/>
  </property>
  <property fmtid="{D5CDD505-2E9C-101B-9397-08002B2CF9AE}" pid="96" name="AuthorInfoDetails1">
    <vt:lpwstr/>
  </property>
  <property fmtid="{D5CDD505-2E9C-101B-9397-08002B2CF9AE}" pid="97" name="AuthorInfoDetails2">
    <vt:lpwstr/>
  </property>
  <property fmtid="{D5CDD505-2E9C-101B-9397-08002B2CF9AE}" pid="98" name="AuthorInfoEmail">
    <vt:lpwstr/>
  </property>
  <property fmtid="{D5CDD505-2E9C-101B-9397-08002B2CF9AE}" pid="99" name="AuthorInfoPhone">
    <vt:lpwstr/>
  </property>
  <property fmtid="{D5CDD505-2E9C-101B-9397-08002B2CF9AE}" pid="100" name="Endorsement">
    <vt:lpwstr/>
  </property>
  <property fmtid="{D5CDD505-2E9C-101B-9397-08002B2CF9AE}" pid="101" name="CoverPage.Ppt">
    <vt:lpwstr>True</vt:lpwstr>
  </property>
  <property fmtid="{D5CDD505-2E9C-101B-9397-08002B2CF9AE}" pid="102" name="CoverPhoto.Ppt">
    <vt:lpwstr/>
  </property>
  <property fmtid="{D5CDD505-2E9C-101B-9397-08002B2CF9AE}" pid="103" name="CoverPhotoLocation.Ppt">
    <vt:lpwstr>0</vt:lpwstr>
  </property>
  <property fmtid="{D5CDD505-2E9C-101B-9397-08002B2CF9AE}" pid="104" name="CoverPhotoPath">
    <vt:lpwstr/>
  </property>
  <property fmtid="{D5CDD505-2E9C-101B-9397-08002B2CF9AE}" pid="105" name="SecurityLevel">
    <vt:lpwstr>4</vt:lpwstr>
  </property>
  <property fmtid="{D5CDD505-2E9C-101B-9397-08002B2CF9AE}" pid="106" name="CoverPhotoIncluded">
    <vt:lpwstr>False</vt:lpwstr>
  </property>
  <property fmtid="{D5CDD505-2E9C-101B-9397-08002B2CF9AE}" pid="107" name="CoverPhotoIsCustom">
    <vt:lpwstr>False</vt:lpwstr>
  </property>
  <property fmtid="{D5CDD505-2E9C-101B-9397-08002B2CF9AE}" pid="108" name="SectionDivider.Ppt">
    <vt:lpwstr>True</vt:lpwstr>
  </property>
  <property fmtid="{D5CDD505-2E9C-101B-9397-08002B2CF9AE}" pid="109" name="IDStampDateFormatID">
    <vt:lpwstr>F1</vt:lpwstr>
  </property>
  <property fmtid="{D5CDD505-2E9C-101B-9397-08002B2CF9AE}" pid="110" name="IDStampDateFormat-T">
    <vt:lpwstr>MMMM d, yyyy h:mm AM/PM</vt:lpwstr>
  </property>
  <property fmtid="{D5CDD505-2E9C-101B-9397-08002B2CF9AE}" pid="111" name="CoverPageDateFormatID">
    <vt:lpwstr>F1</vt:lpwstr>
  </property>
  <property fmtid="{D5CDD505-2E9C-101B-9397-08002B2CF9AE}" pid="112" name="CoverPageDateFormatFilter">
    <vt:lpwstr>1</vt:lpwstr>
  </property>
  <property fmtid="{D5CDD505-2E9C-101B-9397-08002B2CF9AE}" pid="113" name="CoverPageDateFormat-T">
    <vt:lpwstr>MMMM d, yyyy</vt:lpwstr>
  </property>
  <property fmtid="{D5CDD505-2E9C-101B-9397-08002B2CF9AE}" pid="114" name="DisclaimerPage.Ppt">
    <vt:lpwstr>False</vt:lpwstr>
  </property>
  <property fmtid="{D5CDD505-2E9C-101B-9397-08002B2CF9AE}" pid="115" name="DisclaimerID.Ppt">
    <vt:lpwstr>D1</vt:lpwstr>
  </property>
  <property fmtid="{D5CDD505-2E9C-101B-9397-08002B2CF9AE}" pid="116" name="UseInternalUBSFont.Office">
    <vt:lpwstr>True</vt:lpwstr>
  </property>
  <property fmtid="{D5CDD505-2E9C-101B-9397-08002B2CF9AE}" pid="117" name="Subheading-T">
    <vt:lpwstr>&lt;&lt;Table Subheading&gt;&gt;</vt:lpwstr>
  </property>
  <property fmtid="{D5CDD505-2E9C-101B-9397-08002B2CF9AE}" pid="118" name="CalendarDateFormatID">
    <vt:lpwstr>F1</vt:lpwstr>
  </property>
  <property fmtid="{D5CDD505-2E9C-101B-9397-08002B2CF9AE}" pid="119" name="CalendarStartDay">
    <vt:lpwstr>1</vt:lpwstr>
  </property>
  <property fmtid="{D5CDD505-2E9C-101B-9397-08002B2CF9AE}" pid="120" name="DateFormat.Ppt">
    <vt:lpwstr>F1</vt:lpwstr>
  </property>
</Properties>
</file>